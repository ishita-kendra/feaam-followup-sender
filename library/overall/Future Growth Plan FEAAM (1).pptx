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17"/>
  </p:notesMasterIdLst>
  <p:sldIdLst>
    <p:sldId id="257" r:id="rId2"/>
    <p:sldId id="258" r:id="rId3"/>
    <p:sldId id="262" r:id="rId4"/>
    <p:sldId id="266" r:id="rId5"/>
    <p:sldId id="271" r:id="rId6"/>
    <p:sldId id="259" r:id="rId7"/>
    <p:sldId id="260" r:id="rId8"/>
    <p:sldId id="264" r:id="rId9"/>
    <p:sldId id="263" r:id="rId10"/>
    <p:sldId id="265" r:id="rId11"/>
    <p:sldId id="261" r:id="rId12"/>
    <p:sldId id="267" r:id="rId13"/>
    <p:sldId id="269" r:id="rId14"/>
    <p:sldId id="268" r:id="rId15"/>
    <p:sldId id="270" r:id="rId16"/>
  </p:sldIdLst>
  <p:sldSz cx="9144000" cy="6858000" type="screen4x3"/>
  <p:notesSz cx="6797675" cy="9928225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1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15" autoAdjust="0"/>
    <p:restoredTop sz="90929"/>
  </p:normalViewPr>
  <p:slideViewPr>
    <p:cSldViewPr>
      <p:cViewPr varScale="1">
        <p:scale>
          <a:sx n="113" d="100"/>
          <a:sy n="113" d="100"/>
        </p:scale>
        <p:origin x="141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130BFDB9-CC5D-406A-BC79-E25737BF617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pitchFamily="12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4DEA2EC6-B47A-4AA1-9129-CFFD4281CC1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ＭＳ Ｐゴシック" pitchFamily="12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ACC40F08-42F8-4384-A638-0A1DB79C310F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5988" y="744538"/>
            <a:ext cx="496570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12F83C26-E6F7-4EE7-917E-F62B773A57A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6463"/>
            <a:ext cx="4984750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ED14128A-2A8A-463C-9C86-E1AFDF2D965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pitchFamily="12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18107BD4-EA76-400F-9B0B-ABCE2BB8441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19A0C78-B684-4157-89E8-AC73C37929AC}" type="slidenum">
              <a:rPr lang="de-DE" altLang="de-DE"/>
              <a:pPr/>
              <a:t>‹#›</a:t>
            </a:fld>
            <a:endParaRPr lang="de-DE" alt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2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2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2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2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2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4000">
                <a:solidFill>
                  <a:srgbClr val="00517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4" name="Fußzeilenplatzhalter 1">
            <a:extLst>
              <a:ext uri="{FF2B5EF4-FFF2-40B4-BE49-F238E27FC236}">
                <a16:creationId xmlns:a16="http://schemas.microsoft.com/office/drawing/2014/main" id="{A6819C89-7473-4B86-AF02-AC38910B35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&lt;Name&gt;, FEAAM GmbH, &lt;DATUM&gt;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89238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el 1"/>
          <p:cNvSpPr>
            <a:spLocks noGrp="1"/>
          </p:cNvSpPr>
          <p:nvPr>
            <p:ph type="title"/>
          </p:nvPr>
        </p:nvSpPr>
        <p:spPr>
          <a:xfrm>
            <a:off x="251520" y="980728"/>
            <a:ext cx="8640960" cy="504056"/>
          </a:xfrm>
          <a:prstGeom prst="rect">
            <a:avLst/>
          </a:prstGeom>
        </p:spPr>
        <p:txBody>
          <a:bodyPr anchor="ctr" anchorCtr="1"/>
          <a:lstStyle>
            <a:lvl1pPr>
              <a:defRPr sz="2200">
                <a:solidFill>
                  <a:srgbClr val="00517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6" name="Inhaltsplatzhalter 1"/>
          <p:cNvSpPr>
            <a:spLocks noGrp="1"/>
          </p:cNvSpPr>
          <p:nvPr>
            <p:ph sz="half" idx="1"/>
          </p:nvPr>
        </p:nvSpPr>
        <p:spPr>
          <a:xfrm>
            <a:off x="251520" y="1556792"/>
            <a:ext cx="8640960" cy="4104455"/>
          </a:xfrm>
          <a:prstGeom prst="rect">
            <a:avLst/>
          </a:prstGeom>
        </p:spPr>
        <p:txBody>
          <a:bodyPr/>
          <a:lstStyle>
            <a:lvl1pPr marL="341313" indent="-341313">
              <a:buClr>
                <a:srgbClr val="005172"/>
              </a:buClr>
              <a:buFont typeface="Wingdings 3" pitchFamily="18" charset="2"/>
              <a:buChar char=""/>
              <a:defRPr sz="1600" baseline="0"/>
            </a:lvl1pPr>
            <a:lvl2pPr marL="741363" indent="-284163">
              <a:buClr>
                <a:srgbClr val="005172"/>
              </a:buClr>
              <a:buFont typeface="Wingdings" pitchFamily="2" charset="2"/>
              <a:buChar char="§"/>
              <a:defRPr sz="1400"/>
            </a:lvl2pPr>
            <a:lvl3pPr>
              <a:buClr>
                <a:srgbClr val="005172"/>
              </a:buClr>
              <a:defRPr sz="1200"/>
            </a:lvl3pPr>
            <a:lvl4pPr>
              <a:defRPr sz="1100"/>
            </a:lvl4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9103E52-27F1-49F7-93B1-60F8E918B18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E11744-D4C9-4EA1-ABB1-E54BA80F88F9}" type="slidenum">
              <a:rPr lang="de-DE" altLang="de-DE"/>
              <a:pPr/>
              <a:t>‹#›</a:t>
            </a:fld>
            <a:endParaRPr lang="de-DE" altLang="de-DE"/>
          </a:p>
        </p:txBody>
      </p:sp>
      <p:sp>
        <p:nvSpPr>
          <p:cNvPr id="5" name="Fußzeilenplatzhalter 1">
            <a:extLst>
              <a:ext uri="{FF2B5EF4-FFF2-40B4-BE49-F238E27FC236}">
                <a16:creationId xmlns:a16="http://schemas.microsoft.com/office/drawing/2014/main" id="{550B2C76-05E9-41BC-A3E0-203D1D0B9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&lt;Name&gt;, FEAAM GmbH, &lt;DATUM&gt;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44850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haltsplatzhalter 1"/>
          <p:cNvSpPr>
            <a:spLocks noGrp="1"/>
          </p:cNvSpPr>
          <p:nvPr>
            <p:ph sz="half" idx="1"/>
          </p:nvPr>
        </p:nvSpPr>
        <p:spPr>
          <a:xfrm>
            <a:off x="251520" y="980728"/>
            <a:ext cx="8640960" cy="4680519"/>
          </a:xfrm>
          <a:prstGeom prst="rect">
            <a:avLst/>
          </a:prstGeom>
        </p:spPr>
        <p:txBody>
          <a:bodyPr/>
          <a:lstStyle>
            <a:lvl1pPr marL="341313" indent="-341313">
              <a:buClr>
                <a:srgbClr val="005172"/>
              </a:buClr>
              <a:buFont typeface="Wingdings 3" pitchFamily="18" charset="2"/>
              <a:buChar char=""/>
              <a:defRPr sz="1600" baseline="0"/>
            </a:lvl1pPr>
            <a:lvl2pPr marL="741363" indent="-284163">
              <a:buClr>
                <a:srgbClr val="005172"/>
              </a:buClr>
              <a:buFont typeface="Wingdings" pitchFamily="2" charset="2"/>
              <a:buChar char="§"/>
              <a:defRPr sz="1400"/>
            </a:lvl2pPr>
            <a:lvl3pPr>
              <a:buClr>
                <a:srgbClr val="005172"/>
              </a:buClr>
              <a:defRPr sz="1200"/>
            </a:lvl3pPr>
            <a:lvl4pPr>
              <a:defRPr sz="1100"/>
            </a:lvl4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7991640F-14DF-4150-90C3-4593926CD44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4B0871A-0799-4E5F-899F-7BB3B44F3EBE}" type="slidenum">
              <a:rPr lang="de-DE" altLang="de-DE"/>
              <a:pPr/>
              <a:t>‹#›</a:t>
            </a:fld>
            <a:endParaRPr lang="de-DE" altLang="de-DE"/>
          </a:p>
        </p:txBody>
      </p:sp>
      <p:sp>
        <p:nvSpPr>
          <p:cNvPr id="4" name="Fußzeilenplatzhalter 1">
            <a:extLst>
              <a:ext uri="{FF2B5EF4-FFF2-40B4-BE49-F238E27FC236}">
                <a16:creationId xmlns:a16="http://schemas.microsoft.com/office/drawing/2014/main" id="{4CC199F5-B8FE-46DE-A205-DDDC60B25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&lt;Name&gt;, FEAAM GmbH, &lt;DATUM&gt;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55954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/>
          <p:cNvSpPr>
            <a:spLocks noGrp="1"/>
          </p:cNvSpPr>
          <p:nvPr>
            <p:ph type="title"/>
          </p:nvPr>
        </p:nvSpPr>
        <p:spPr>
          <a:xfrm>
            <a:off x="251520" y="980728"/>
            <a:ext cx="8640960" cy="504056"/>
          </a:xfrm>
          <a:prstGeom prst="rect">
            <a:avLst/>
          </a:prstGeom>
        </p:spPr>
        <p:txBody>
          <a:bodyPr anchor="ctr" anchorCtr="1"/>
          <a:lstStyle>
            <a:lvl1pPr>
              <a:defRPr sz="2200">
                <a:solidFill>
                  <a:srgbClr val="00517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7" name="Inhaltsplatzhalter 1"/>
          <p:cNvSpPr>
            <a:spLocks noGrp="1"/>
          </p:cNvSpPr>
          <p:nvPr>
            <p:ph sz="half" idx="1"/>
          </p:nvPr>
        </p:nvSpPr>
        <p:spPr>
          <a:xfrm>
            <a:off x="251520" y="1556792"/>
            <a:ext cx="4248472" cy="4104455"/>
          </a:xfrm>
          <a:prstGeom prst="rect">
            <a:avLst/>
          </a:prstGeom>
        </p:spPr>
        <p:txBody>
          <a:bodyPr/>
          <a:lstStyle>
            <a:lvl1pPr marL="341313" indent="-341313">
              <a:buClr>
                <a:srgbClr val="005172"/>
              </a:buClr>
              <a:buFont typeface="Wingdings 3" pitchFamily="18" charset="2"/>
              <a:buChar char=""/>
              <a:defRPr sz="1600" baseline="0"/>
            </a:lvl1pPr>
            <a:lvl2pPr marL="741363" indent="-284163">
              <a:buClr>
                <a:srgbClr val="005172"/>
              </a:buClr>
              <a:buFont typeface="Wingdings" pitchFamily="2" charset="2"/>
              <a:buChar char="§"/>
              <a:defRPr sz="1400"/>
            </a:lvl2pPr>
            <a:lvl3pPr>
              <a:buClr>
                <a:srgbClr val="005172"/>
              </a:buClr>
              <a:defRPr sz="1200"/>
            </a:lvl3pPr>
            <a:lvl4pPr>
              <a:defRPr sz="1100"/>
            </a:lvl4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11" name="Inhaltsplatzhalter 1"/>
          <p:cNvSpPr>
            <a:spLocks noGrp="1"/>
          </p:cNvSpPr>
          <p:nvPr>
            <p:ph sz="half" idx="16"/>
          </p:nvPr>
        </p:nvSpPr>
        <p:spPr>
          <a:xfrm>
            <a:off x="4644008" y="1556792"/>
            <a:ext cx="4248472" cy="4104455"/>
          </a:xfrm>
          <a:prstGeom prst="rect">
            <a:avLst/>
          </a:prstGeom>
        </p:spPr>
        <p:txBody>
          <a:bodyPr/>
          <a:lstStyle>
            <a:lvl1pPr marL="341313" indent="-341313">
              <a:buClr>
                <a:srgbClr val="005172"/>
              </a:buClr>
              <a:buFont typeface="Wingdings 3" pitchFamily="18" charset="2"/>
              <a:buChar char=""/>
              <a:defRPr sz="1600" baseline="0"/>
            </a:lvl1pPr>
            <a:lvl2pPr marL="741363" indent="-284163">
              <a:buClr>
                <a:srgbClr val="005172"/>
              </a:buClr>
              <a:buFont typeface="Wingdings" pitchFamily="2" charset="2"/>
              <a:buChar char="§"/>
              <a:defRPr sz="1400"/>
            </a:lvl2pPr>
            <a:lvl3pPr>
              <a:buClr>
                <a:srgbClr val="005172"/>
              </a:buClr>
              <a:defRPr sz="1200"/>
            </a:lvl3pPr>
            <a:lvl4pPr>
              <a:defRPr sz="1100"/>
            </a:lvl4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F52569B-0D7A-4982-8154-0AD444CD0623}"/>
              </a:ext>
            </a:extLst>
          </p:cNvPr>
          <p:cNvSpPr>
            <a:spLocks noGrp="1" noChangeArrowheads="1"/>
          </p:cNvSpPr>
          <p:nvPr>
            <p:ph type="sldNum" sz="quarter" idx="17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B29F56-35DA-40F3-A652-9B4B42EAEA64}" type="slidenum">
              <a:rPr lang="de-DE" altLang="de-DE"/>
              <a:pPr/>
              <a:t>‹#›</a:t>
            </a:fld>
            <a:endParaRPr lang="de-DE" altLang="de-DE"/>
          </a:p>
        </p:txBody>
      </p:sp>
      <p:sp>
        <p:nvSpPr>
          <p:cNvPr id="6" name="Fußzeilenplatzhalter 1">
            <a:extLst>
              <a:ext uri="{FF2B5EF4-FFF2-40B4-BE49-F238E27FC236}">
                <a16:creationId xmlns:a16="http://schemas.microsoft.com/office/drawing/2014/main" id="{2CA31AFE-0F09-4D7B-92FC-F571C7A4D2A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&lt;Name&gt;, FEAAM GmbH, &lt;DATUM&gt;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12096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51520" y="1556792"/>
            <a:ext cx="4248472" cy="639762"/>
          </a:xfrm>
          <a:prstGeom prst="rect">
            <a:avLst/>
          </a:prstGeom>
        </p:spPr>
        <p:txBody>
          <a:bodyPr anchor="ctr" anchorCtr="1"/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4008" y="1556792"/>
            <a:ext cx="4248472" cy="639762"/>
          </a:xfrm>
          <a:prstGeom prst="rect">
            <a:avLst/>
          </a:prstGeom>
        </p:spPr>
        <p:txBody>
          <a:bodyPr anchor="ctr" anchorCtr="1"/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itel 1"/>
          <p:cNvSpPr>
            <a:spLocks noGrp="1"/>
          </p:cNvSpPr>
          <p:nvPr>
            <p:ph type="title"/>
          </p:nvPr>
        </p:nvSpPr>
        <p:spPr>
          <a:xfrm>
            <a:off x="251520" y="980728"/>
            <a:ext cx="8640960" cy="504056"/>
          </a:xfrm>
          <a:prstGeom prst="rect">
            <a:avLst/>
          </a:prstGeom>
        </p:spPr>
        <p:txBody>
          <a:bodyPr anchor="ctr" anchorCtr="1"/>
          <a:lstStyle>
            <a:lvl1pPr>
              <a:defRPr sz="2200">
                <a:solidFill>
                  <a:srgbClr val="00517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Inhaltsplatzhalter 1"/>
          <p:cNvSpPr>
            <a:spLocks noGrp="1"/>
          </p:cNvSpPr>
          <p:nvPr>
            <p:ph sz="half" idx="16"/>
          </p:nvPr>
        </p:nvSpPr>
        <p:spPr>
          <a:xfrm>
            <a:off x="251520" y="2204864"/>
            <a:ext cx="4248472" cy="3456383"/>
          </a:xfrm>
          <a:prstGeom prst="rect">
            <a:avLst/>
          </a:prstGeom>
        </p:spPr>
        <p:txBody>
          <a:bodyPr/>
          <a:lstStyle>
            <a:lvl1pPr marL="341313" indent="-341313">
              <a:buClr>
                <a:srgbClr val="005172"/>
              </a:buClr>
              <a:buFont typeface="Wingdings 3" pitchFamily="18" charset="2"/>
              <a:buChar char=""/>
              <a:defRPr sz="1600" baseline="0"/>
            </a:lvl1pPr>
            <a:lvl2pPr marL="741363" indent="-284163">
              <a:buClr>
                <a:srgbClr val="005172"/>
              </a:buClr>
              <a:buFont typeface="Wingdings" pitchFamily="2" charset="2"/>
              <a:buChar char="§"/>
              <a:defRPr sz="1400"/>
            </a:lvl2pPr>
            <a:lvl3pPr>
              <a:buClr>
                <a:srgbClr val="005172"/>
              </a:buClr>
              <a:defRPr sz="1200"/>
            </a:lvl3pPr>
            <a:lvl4pPr>
              <a:defRPr sz="1100"/>
            </a:lvl4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10" name="Inhaltsplatzhalter 1"/>
          <p:cNvSpPr>
            <a:spLocks noGrp="1"/>
          </p:cNvSpPr>
          <p:nvPr>
            <p:ph sz="half" idx="17"/>
          </p:nvPr>
        </p:nvSpPr>
        <p:spPr>
          <a:xfrm>
            <a:off x="4644008" y="2204864"/>
            <a:ext cx="4248472" cy="3456383"/>
          </a:xfrm>
          <a:prstGeom prst="rect">
            <a:avLst/>
          </a:prstGeom>
        </p:spPr>
        <p:txBody>
          <a:bodyPr/>
          <a:lstStyle>
            <a:lvl1pPr marL="341313" indent="-341313">
              <a:buClr>
                <a:srgbClr val="005172"/>
              </a:buClr>
              <a:buFont typeface="Wingdings 3" pitchFamily="18" charset="2"/>
              <a:buChar char=""/>
              <a:defRPr sz="1600" baseline="0"/>
            </a:lvl1pPr>
            <a:lvl2pPr marL="741363" indent="-284163">
              <a:buClr>
                <a:srgbClr val="005172"/>
              </a:buClr>
              <a:buFont typeface="Wingdings" pitchFamily="2" charset="2"/>
              <a:buChar char="§"/>
              <a:defRPr sz="1400"/>
            </a:lvl2pPr>
            <a:lvl3pPr>
              <a:buClr>
                <a:srgbClr val="005172"/>
              </a:buClr>
              <a:defRPr sz="1200"/>
            </a:lvl3pPr>
            <a:lvl4pPr>
              <a:defRPr sz="1100"/>
            </a:lvl4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56C4E1-648B-436B-B63F-8783D84B7D29}"/>
              </a:ext>
            </a:extLst>
          </p:cNvPr>
          <p:cNvSpPr>
            <a:spLocks noGrp="1" noChangeArrowheads="1"/>
          </p:cNvSpPr>
          <p:nvPr>
            <p:ph type="sldNum" sz="quarter" idx="18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B9B2BFF-BB83-4126-94D9-641A7B1804B0}" type="slidenum">
              <a:rPr lang="de-DE" altLang="de-DE"/>
              <a:pPr/>
              <a:t>‹#›</a:t>
            </a:fld>
            <a:endParaRPr lang="de-DE" altLang="de-DE"/>
          </a:p>
        </p:txBody>
      </p:sp>
      <p:sp>
        <p:nvSpPr>
          <p:cNvPr id="8" name="Fußzeilenplatzhalter 1">
            <a:extLst>
              <a:ext uri="{FF2B5EF4-FFF2-40B4-BE49-F238E27FC236}">
                <a16:creationId xmlns:a16="http://schemas.microsoft.com/office/drawing/2014/main" id="{7203D661-E58E-4AE6-9EFB-3724598129F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&lt;Name&gt;, FEAAM GmbH, &lt;DATUM&gt;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6795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/>
          <p:cNvSpPr>
            <a:spLocks noGrp="1"/>
          </p:cNvSpPr>
          <p:nvPr>
            <p:ph type="title"/>
          </p:nvPr>
        </p:nvSpPr>
        <p:spPr>
          <a:xfrm>
            <a:off x="251520" y="980728"/>
            <a:ext cx="8640960" cy="504056"/>
          </a:xfrm>
          <a:prstGeom prst="rect">
            <a:avLst/>
          </a:prstGeom>
        </p:spPr>
        <p:txBody>
          <a:bodyPr anchor="ctr" anchorCtr="1"/>
          <a:lstStyle>
            <a:lvl1pPr>
              <a:defRPr sz="2200">
                <a:solidFill>
                  <a:srgbClr val="00517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54B280B9-564F-40B4-B892-E91FCF2EF7C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9FB99F-BE23-46F0-AE77-943A0B99DA97}" type="slidenum">
              <a:rPr lang="de-DE" altLang="de-DE"/>
              <a:pPr/>
              <a:t>‹#›</a:t>
            </a:fld>
            <a:endParaRPr lang="de-DE" altLang="de-DE"/>
          </a:p>
        </p:txBody>
      </p:sp>
      <p:sp>
        <p:nvSpPr>
          <p:cNvPr id="4" name="Fußzeilenplatzhalter 1">
            <a:extLst>
              <a:ext uri="{FF2B5EF4-FFF2-40B4-BE49-F238E27FC236}">
                <a16:creationId xmlns:a16="http://schemas.microsoft.com/office/drawing/2014/main" id="{7FFFB02C-6C96-4F62-8BD7-C8DA7C0A3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&lt;Name&gt;, FEAAM GmbH, &lt;DATUM&gt;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74530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8B1BE923-F60B-450C-A638-4FFD28828C2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1E72CA8-C82C-4C70-B8A5-23594A2D80AF}" type="slidenum">
              <a:rPr lang="de-DE" altLang="de-DE"/>
              <a:pPr/>
              <a:t>‹#›</a:t>
            </a:fld>
            <a:endParaRPr lang="de-DE" altLang="de-DE"/>
          </a:p>
        </p:txBody>
      </p:sp>
      <p:sp>
        <p:nvSpPr>
          <p:cNvPr id="3" name="Fußzeilenplatzhalter 1">
            <a:extLst>
              <a:ext uri="{FF2B5EF4-FFF2-40B4-BE49-F238E27FC236}">
                <a16:creationId xmlns:a16="http://schemas.microsoft.com/office/drawing/2014/main" id="{60E43FF9-F2B8-4FA1-9FB5-DF9E85156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&lt;Name&gt;, FEAAM GmbH, &lt;DATUM&gt;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05442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chlussfolie Deut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08135396-C0A4-4C21-BE6D-10E06CF7B9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2997200"/>
            <a:ext cx="77755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12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12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12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12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12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12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12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12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124" charset="-128"/>
              </a:defRPr>
            </a:lvl9pPr>
          </a:lstStyle>
          <a:p>
            <a:pPr algn="ctr">
              <a:defRPr/>
            </a:pPr>
            <a:r>
              <a:rPr lang="de-DE"/>
              <a:t>Vielen Dank für Ihre Aufmerksamkeit!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A19E5B3-4A62-463C-ABD4-48271D10B27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&lt;Name&gt;, FEAAM GmbH, &lt;DATUM&gt;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59648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chlussfolie Engli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6F17580F-0C65-45B3-B1FF-880982EF49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2997200"/>
            <a:ext cx="77755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12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12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12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12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12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12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12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12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124" charset="-128"/>
              </a:defRPr>
            </a:lvl9pPr>
          </a:lstStyle>
          <a:p>
            <a:pPr algn="ctr">
              <a:defRPr/>
            </a:pPr>
            <a:r>
              <a:rPr lang="en-US" dirty="0"/>
              <a:t>Thank you for your attention!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EF4A969-F98C-4937-8D85-BD25C561301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&lt;Name&gt;, FEAAM GmbH, &lt;DATUM&gt;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14320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6">
            <a:extLst>
              <a:ext uri="{FF2B5EF4-FFF2-40B4-BE49-F238E27FC236}">
                <a16:creationId xmlns:a16="http://schemas.microsoft.com/office/drawing/2014/main" id="{C38097CD-5E42-40FB-9447-57348778D9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24"/>
          <a:stretch>
            <a:fillRect/>
          </a:stretch>
        </p:blipFill>
        <p:spPr bwMode="auto">
          <a:xfrm>
            <a:off x="-1588" y="5462588"/>
            <a:ext cx="9145588" cy="1395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0" name="Rectangle 6">
            <a:extLst>
              <a:ext uri="{FF2B5EF4-FFF2-40B4-BE49-F238E27FC236}">
                <a16:creationId xmlns:a16="http://schemas.microsoft.com/office/drawing/2014/main" id="{DCA71E58-C8CE-4F11-B234-57D577BB0C4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924300" y="6149975"/>
            <a:ext cx="1295400" cy="331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5172"/>
                </a:solidFill>
              </a:defRPr>
            </a:lvl1pPr>
          </a:lstStyle>
          <a:p>
            <a:fld id="{0A293BBB-FDC9-4D6F-AE6A-0D464D3453B9}" type="slidenum">
              <a:rPr lang="de-DE" altLang="de-DE"/>
              <a:pPr/>
              <a:t>‹#›</a:t>
            </a:fld>
            <a:endParaRPr lang="de-DE" altLang="de-DE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FE4DEE70-020B-4B44-BE42-7D86C5490A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8" y="44450"/>
            <a:ext cx="9145588" cy="89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E293310C-9BD0-42ED-9C47-5B4246211E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050" y="6597650"/>
            <a:ext cx="3905250" cy="215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/>
                </a:solidFill>
                <a:latin typeface="Arial" charset="0"/>
                <a:ea typeface="ＭＳ Ｐゴシック" pitchFamily="124" charset="-128"/>
              </a:defRPr>
            </a:lvl1pPr>
          </a:lstStyle>
          <a:p>
            <a:pPr>
              <a:defRPr/>
            </a:pPr>
            <a:r>
              <a:rPr lang="de-DE"/>
              <a:t>&lt;Name&gt;, FEAAM GmbH, &lt;DATUM&gt;</a:t>
            </a:r>
            <a:endParaRPr lang="de-DE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5" r:id="rId8"/>
    <p:sldLayoutId id="2147483806" r:id="rId9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124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124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124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124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124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124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124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124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el 9">
            <a:extLst>
              <a:ext uri="{FF2B5EF4-FFF2-40B4-BE49-F238E27FC236}">
                <a16:creationId xmlns:a16="http://schemas.microsoft.com/office/drawing/2014/main" id="{A9BB2012-EBDB-47DC-A0DB-D3958C88EA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noFill/>
        </p:spPr>
        <p:txBody>
          <a:bodyPr/>
          <a:lstStyle/>
          <a:p>
            <a:r>
              <a:rPr lang="de-DE" altLang="de-DE" dirty="0"/>
              <a:t>Future Growth Plan</a:t>
            </a:r>
          </a:p>
        </p:txBody>
      </p:sp>
      <p:sp>
        <p:nvSpPr>
          <p:cNvPr id="5123" name="Untertitel 10">
            <a:extLst>
              <a:ext uri="{FF2B5EF4-FFF2-40B4-BE49-F238E27FC236}">
                <a16:creationId xmlns:a16="http://schemas.microsoft.com/office/drawing/2014/main" id="{F79371AB-5E52-4E57-A5E6-09EF29F5CF62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de-DE" altLang="de-DE" sz="2000" dirty="0"/>
              <a:t> </a:t>
            </a:r>
          </a:p>
        </p:txBody>
      </p:sp>
      <p:sp>
        <p:nvSpPr>
          <p:cNvPr id="5124" name="Fußzeilenplatzhalter 4">
            <a:extLst>
              <a:ext uri="{FF2B5EF4-FFF2-40B4-BE49-F238E27FC236}">
                <a16:creationId xmlns:a16="http://schemas.microsoft.com/office/drawing/2014/main" id="{2CE99BBB-40B8-4489-AC5F-03EDE07DF64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de-DE" sz="900">
                <a:solidFill>
                  <a:schemeClr val="bg1"/>
                </a:solidFill>
              </a:rPr>
              <a:t>&lt;Name&gt;, FEAAM GmbH, &lt;DATUM&gt;</a:t>
            </a:r>
          </a:p>
        </p:txBody>
      </p:sp>
      <p:sp>
        <p:nvSpPr>
          <p:cNvPr id="5125" name="Foliennummernplatzhalter 3">
            <a:extLst>
              <a:ext uri="{FF2B5EF4-FFF2-40B4-BE49-F238E27FC236}">
                <a16:creationId xmlns:a16="http://schemas.microsoft.com/office/drawing/2014/main" id="{DE5D9F04-2A72-4F4A-878B-26136653C9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149975"/>
            <a:ext cx="1295400" cy="3317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3B2EFCA-C124-4114-880E-5EA546BAC8ED}" type="slidenum">
              <a:rPr lang="de-DE" altLang="de-DE" sz="1200">
                <a:solidFill>
                  <a:srgbClr val="005172"/>
                </a:solidFill>
              </a:rPr>
              <a:pPr/>
              <a:t>1</a:t>
            </a:fld>
            <a:endParaRPr lang="de-DE" altLang="de-DE" sz="1200">
              <a:solidFill>
                <a:srgbClr val="00517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587508-8F5D-4797-A45B-7F22763A9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Worldwide Electric Motor Market Development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D410EB1-EAA9-405E-ACCE-74FD2C978E7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 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14ADB8C-BA48-4861-8F72-A6EC5D4CBF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E11744-D4C9-4EA1-ABB1-E54BA80F88F9}" type="slidenum">
              <a:rPr lang="de-DE" altLang="de-DE" smtClean="0"/>
              <a:pPr/>
              <a:t>2</a:t>
            </a:fld>
            <a:endParaRPr lang="de-DE" alt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BF028C3-17DB-42A6-A066-9F3A90F38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&lt;Name&gt;, FEAAM GmbH, &lt;DATUM&gt;</a:t>
            </a:r>
            <a:endParaRPr lang="de-DE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79502AB-A91A-4858-A4C3-EF5456DA6F01}"/>
              </a:ext>
            </a:extLst>
          </p:cNvPr>
          <p:cNvSpPr txBox="1"/>
          <p:nvPr/>
        </p:nvSpPr>
        <p:spPr>
          <a:xfrm>
            <a:off x="5108691" y="6392469"/>
            <a:ext cx="399981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source: https://www.grandviewresearch.com/industry-analysis/electric-motor-market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11FBA6AD-0E67-402B-889E-8EB515B38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586" y="1615202"/>
            <a:ext cx="3587244" cy="1885805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BC9A2FC0-6CD6-451A-B14D-ACD70FF63C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9832" y="2764558"/>
            <a:ext cx="3587244" cy="1888578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D0FEC6FC-089A-4423-AC22-9FD5DE3704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4344" y="3915657"/>
            <a:ext cx="3425981" cy="1801289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D0D2B4E9-6CC1-4A73-BBB5-E8257E37896A}"/>
              </a:ext>
            </a:extLst>
          </p:cNvPr>
          <p:cNvSpPr/>
          <p:nvPr/>
        </p:nvSpPr>
        <p:spPr bwMode="auto">
          <a:xfrm>
            <a:off x="3131840" y="2204864"/>
            <a:ext cx="842982" cy="648072"/>
          </a:xfrm>
          <a:prstGeom prst="ellipse">
            <a:avLst/>
          </a:prstGeom>
          <a:noFill/>
          <a:ln w="571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24" charset="-128"/>
            </a:endParaRP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2A49AC24-2453-433F-B6CD-7BA6FA79E8F8}"/>
              </a:ext>
            </a:extLst>
          </p:cNvPr>
          <p:cNvSpPr/>
          <p:nvPr/>
        </p:nvSpPr>
        <p:spPr bwMode="auto">
          <a:xfrm>
            <a:off x="8172400" y="4492265"/>
            <a:ext cx="842982" cy="648072"/>
          </a:xfrm>
          <a:prstGeom prst="ellipse">
            <a:avLst/>
          </a:prstGeom>
          <a:noFill/>
          <a:ln w="571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2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74933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587508-8F5D-4797-A45B-7F22763A9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Applications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High </a:t>
            </a:r>
            <a:r>
              <a:rPr lang="de-DE" dirty="0" err="1"/>
              <a:t>Number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Electric Motors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D410EB1-EAA9-405E-ACCE-74FD2C978E7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DE" dirty="0"/>
              <a:t>Humanoid Robots</a:t>
            </a:r>
          </a:p>
          <a:p>
            <a:pPr lvl="1"/>
            <a:endParaRPr lang="de-DE" dirty="0"/>
          </a:p>
          <a:p>
            <a:pPr lvl="1"/>
            <a:r>
              <a:rPr lang="de-DE" dirty="0" err="1"/>
              <a:t>exponential</a:t>
            </a:r>
            <a:r>
              <a:rPr lang="de-DE" dirty="0"/>
              <a:t> </a:t>
            </a:r>
            <a:r>
              <a:rPr lang="de-DE" dirty="0" err="1"/>
              <a:t>growth</a:t>
            </a:r>
            <a:endParaRPr lang="de-DE" dirty="0"/>
          </a:p>
          <a:p>
            <a:pPr lvl="1"/>
            <a:endParaRPr lang="de-DE" dirty="0"/>
          </a:p>
          <a:p>
            <a:pPr lvl="1"/>
            <a:r>
              <a:rPr lang="de-DE" dirty="0"/>
              <a:t>at least 20, </a:t>
            </a:r>
            <a:r>
              <a:rPr lang="de-DE" dirty="0" err="1"/>
              <a:t>up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100,</a:t>
            </a:r>
            <a:br>
              <a:rPr lang="de-DE" dirty="0"/>
            </a:br>
            <a:r>
              <a:rPr lang="de-DE" dirty="0" err="1"/>
              <a:t>electric</a:t>
            </a:r>
            <a:r>
              <a:rPr lang="de-DE" dirty="0"/>
              <a:t> </a:t>
            </a:r>
            <a:r>
              <a:rPr lang="de-DE" dirty="0" err="1"/>
              <a:t>motors</a:t>
            </a:r>
            <a:r>
              <a:rPr lang="de-DE" dirty="0"/>
              <a:t> per </a:t>
            </a:r>
            <a:br>
              <a:rPr lang="de-DE" dirty="0"/>
            </a:br>
            <a:r>
              <a:rPr lang="de-DE" dirty="0"/>
              <a:t>humanoid </a:t>
            </a:r>
            <a:r>
              <a:rPr lang="de-DE" dirty="0" err="1"/>
              <a:t>robot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14ADB8C-BA48-4861-8F72-A6EC5D4CBF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E11744-D4C9-4EA1-ABB1-E54BA80F88F9}" type="slidenum">
              <a:rPr lang="de-DE" altLang="de-DE" smtClean="0"/>
              <a:pPr/>
              <a:t>3</a:t>
            </a:fld>
            <a:endParaRPr lang="de-DE" alt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BF028C3-17DB-42A6-A066-9F3A90F38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&lt;Name&gt;, FEAAM GmbH, &lt;DATUM&gt;</a:t>
            </a:r>
            <a:endParaRPr lang="de-DE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79502AB-A91A-4858-A4C3-EF5456DA6F01}"/>
              </a:ext>
            </a:extLst>
          </p:cNvPr>
          <p:cNvSpPr txBox="1"/>
          <p:nvPr/>
        </p:nvSpPr>
        <p:spPr>
          <a:xfrm>
            <a:off x="4631226" y="6392469"/>
            <a:ext cx="45127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source: https://www.ideas-magazin.de/2025/ausgabe-279/titelthema/</a:t>
            </a:r>
            <a:br>
              <a:rPr lang="de-DE" sz="800" dirty="0"/>
            </a:br>
            <a:r>
              <a:rPr lang="de-DE" sz="800" dirty="0"/>
              <a:t>             https://www.maxongroup.de/medias/sys_master/8814479343646.pdf?attachment=true</a:t>
            </a:r>
            <a:br>
              <a:rPr lang="de-DE" sz="800" dirty="0"/>
            </a:br>
            <a:r>
              <a:rPr lang="de-DE" sz="800" dirty="0"/>
              <a:t>             https://www.rootsanalysis.com/humanoid-robot-market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65B8754F-EB66-40D3-9F72-52A010835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8380" y="1616431"/>
            <a:ext cx="5238255" cy="2604658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AF215484-28C3-47BB-810C-C150BC84A8D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975" b="2261"/>
          <a:stretch/>
        </p:blipFill>
        <p:spPr>
          <a:xfrm>
            <a:off x="641812" y="3284984"/>
            <a:ext cx="4369102" cy="2604657"/>
          </a:xfrm>
          <a:prstGeom prst="rect">
            <a:avLst/>
          </a:prstGeom>
        </p:spPr>
      </p:pic>
      <p:sp>
        <p:nvSpPr>
          <p:cNvPr id="9" name="Ellipse 8">
            <a:extLst>
              <a:ext uri="{FF2B5EF4-FFF2-40B4-BE49-F238E27FC236}">
                <a16:creationId xmlns:a16="http://schemas.microsoft.com/office/drawing/2014/main" id="{9740AA5C-6609-4CD5-9BE4-4E175E946C52}"/>
              </a:ext>
            </a:extLst>
          </p:cNvPr>
          <p:cNvSpPr/>
          <p:nvPr/>
        </p:nvSpPr>
        <p:spPr bwMode="auto">
          <a:xfrm>
            <a:off x="7611788" y="2708920"/>
            <a:ext cx="1136675" cy="648072"/>
          </a:xfrm>
          <a:prstGeom prst="ellipse">
            <a:avLst/>
          </a:prstGeom>
          <a:noFill/>
          <a:ln w="571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2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77521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587508-8F5D-4797-A45B-7F22763A9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Applications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High </a:t>
            </a:r>
            <a:r>
              <a:rPr lang="de-DE" dirty="0" err="1"/>
              <a:t>Number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Electric Motors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D410EB1-EAA9-405E-ACCE-74FD2C978E7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DE" dirty="0"/>
              <a:t>Electric </a:t>
            </a:r>
            <a:r>
              <a:rPr lang="de-DE" dirty="0" err="1"/>
              <a:t>Forklift</a:t>
            </a:r>
            <a:r>
              <a:rPr lang="de-DE" dirty="0"/>
              <a:t> Trucks</a:t>
            </a:r>
          </a:p>
          <a:p>
            <a:pPr lvl="1"/>
            <a:endParaRPr lang="de-DE" dirty="0"/>
          </a:p>
          <a:p>
            <a:pPr lvl="1"/>
            <a:r>
              <a:rPr lang="de-DE" dirty="0" err="1"/>
              <a:t>nearly</a:t>
            </a:r>
            <a:r>
              <a:rPr lang="de-DE" dirty="0"/>
              <a:t> </a:t>
            </a:r>
            <a:r>
              <a:rPr lang="de-DE" dirty="0" err="1"/>
              <a:t>exponential</a:t>
            </a:r>
            <a:r>
              <a:rPr lang="de-DE" dirty="0"/>
              <a:t> </a:t>
            </a:r>
            <a:r>
              <a:rPr lang="de-DE" dirty="0" err="1"/>
              <a:t>growth</a:t>
            </a:r>
            <a:endParaRPr lang="de-DE" dirty="0"/>
          </a:p>
          <a:p>
            <a:pPr lvl="1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14ADB8C-BA48-4861-8F72-A6EC5D4CBF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E11744-D4C9-4EA1-ABB1-E54BA80F88F9}" type="slidenum">
              <a:rPr lang="de-DE" altLang="de-DE" smtClean="0"/>
              <a:pPr/>
              <a:t>4</a:t>
            </a:fld>
            <a:endParaRPr lang="de-DE" alt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BF028C3-17DB-42A6-A066-9F3A90F38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&lt;Name&gt;, FEAAM GmbH, &lt;DATUM&gt;</a:t>
            </a:r>
            <a:endParaRPr lang="de-DE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79502AB-A91A-4858-A4C3-EF5456DA6F01}"/>
              </a:ext>
            </a:extLst>
          </p:cNvPr>
          <p:cNvSpPr txBox="1"/>
          <p:nvPr/>
        </p:nvSpPr>
        <p:spPr>
          <a:xfrm>
            <a:off x="5004048" y="6392469"/>
            <a:ext cx="41504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source: https://www.futuremarketinsights.com/reports/electric-lift-trucks-market</a:t>
            </a:r>
          </a:p>
          <a:p>
            <a:r>
              <a:rPr lang="de-DE" sz="800" dirty="0"/>
              <a:t>             https://www.futuremarketreport.com/industry-report/electric-forklift-truck-market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E0114429-4E13-42DF-9B60-407479A74F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" b="-403"/>
          <a:stretch/>
        </p:blipFill>
        <p:spPr>
          <a:xfrm>
            <a:off x="1056097" y="2730424"/>
            <a:ext cx="4163603" cy="2498776"/>
          </a:xfrm>
          <a:prstGeom prst="rect">
            <a:avLst/>
          </a:prstGeom>
        </p:spPr>
      </p:pic>
      <p:sp>
        <p:nvSpPr>
          <p:cNvPr id="9" name="Ellipse 8">
            <a:extLst>
              <a:ext uri="{FF2B5EF4-FFF2-40B4-BE49-F238E27FC236}">
                <a16:creationId xmlns:a16="http://schemas.microsoft.com/office/drawing/2014/main" id="{C17DA9B1-B7EA-4ED9-89AC-08819BC92378}"/>
              </a:ext>
            </a:extLst>
          </p:cNvPr>
          <p:cNvSpPr/>
          <p:nvPr/>
        </p:nvSpPr>
        <p:spPr bwMode="auto">
          <a:xfrm>
            <a:off x="4283968" y="3458773"/>
            <a:ext cx="792088" cy="516023"/>
          </a:xfrm>
          <a:prstGeom prst="ellipse">
            <a:avLst/>
          </a:prstGeom>
          <a:noFill/>
          <a:ln w="571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24" charset="-128"/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68F6B80A-BB73-4C27-90E4-81050A07E9C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5125"/>
          <a:stretch/>
        </p:blipFill>
        <p:spPr>
          <a:xfrm>
            <a:off x="4193324" y="4138156"/>
            <a:ext cx="2826947" cy="2271229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1EA97C01-3087-46F4-895F-4A8E37200B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5901" y="1693384"/>
            <a:ext cx="3485501" cy="2271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075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587508-8F5D-4797-A45B-7F22763A9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Applications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High </a:t>
            </a:r>
            <a:r>
              <a:rPr lang="de-DE" dirty="0" err="1"/>
              <a:t>Number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Electric Motors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D410EB1-EAA9-405E-ACCE-74FD2C978E7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DE" dirty="0"/>
              <a:t>Electric </a:t>
            </a:r>
            <a:r>
              <a:rPr lang="de-DE" dirty="0" err="1"/>
              <a:t>Drones</a:t>
            </a:r>
            <a:endParaRPr lang="de-DE" dirty="0"/>
          </a:p>
          <a:p>
            <a:pPr lvl="1"/>
            <a:endParaRPr lang="de-DE" dirty="0"/>
          </a:p>
          <a:p>
            <a:pPr lvl="1"/>
            <a:r>
              <a:rPr lang="de-DE" dirty="0" err="1"/>
              <a:t>nearly</a:t>
            </a:r>
            <a:r>
              <a:rPr lang="de-DE" dirty="0"/>
              <a:t> </a:t>
            </a:r>
            <a:r>
              <a:rPr lang="de-DE" dirty="0" err="1"/>
              <a:t>exponential</a:t>
            </a:r>
            <a:r>
              <a:rPr lang="de-DE" dirty="0"/>
              <a:t> </a:t>
            </a:r>
            <a:r>
              <a:rPr lang="de-DE" dirty="0" err="1"/>
              <a:t>growth</a:t>
            </a:r>
            <a:endParaRPr lang="de-DE" dirty="0"/>
          </a:p>
          <a:p>
            <a:pPr lvl="1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14ADB8C-BA48-4861-8F72-A6EC5D4CBF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E11744-D4C9-4EA1-ABB1-E54BA80F88F9}" type="slidenum">
              <a:rPr lang="de-DE" altLang="de-DE" smtClean="0"/>
              <a:pPr/>
              <a:t>5</a:t>
            </a:fld>
            <a:endParaRPr lang="de-DE" alt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BF028C3-17DB-42A6-A066-9F3A90F38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&lt;Name&gt;, FEAAM GmbH, &lt;DATUM&gt;</a:t>
            </a:r>
            <a:endParaRPr lang="de-DE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79502AB-A91A-4858-A4C3-EF5456DA6F01}"/>
              </a:ext>
            </a:extLst>
          </p:cNvPr>
          <p:cNvSpPr txBox="1"/>
          <p:nvPr/>
        </p:nvSpPr>
        <p:spPr>
          <a:xfrm>
            <a:off x="5179223" y="6392469"/>
            <a:ext cx="39292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source: https://www.grandviewresearch.com/industry-analysis/drone-market-report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DD31CA1F-F13F-4F15-88A0-BB61C1903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177" y="2730606"/>
            <a:ext cx="5780245" cy="3293219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571B1429-558E-41CA-A4CA-117C3A554F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0016" y="1632033"/>
            <a:ext cx="3102464" cy="1652951"/>
          </a:xfrm>
          <a:prstGeom prst="rect">
            <a:avLst/>
          </a:prstGeom>
        </p:spPr>
      </p:pic>
      <p:sp>
        <p:nvSpPr>
          <p:cNvPr id="9" name="Ellipse 8">
            <a:extLst>
              <a:ext uri="{FF2B5EF4-FFF2-40B4-BE49-F238E27FC236}">
                <a16:creationId xmlns:a16="http://schemas.microsoft.com/office/drawing/2014/main" id="{C17DA9B1-B7EA-4ED9-89AC-08819BC92378}"/>
              </a:ext>
            </a:extLst>
          </p:cNvPr>
          <p:cNvSpPr/>
          <p:nvPr/>
        </p:nvSpPr>
        <p:spPr bwMode="auto">
          <a:xfrm>
            <a:off x="7164288" y="2348880"/>
            <a:ext cx="617155" cy="402274"/>
          </a:xfrm>
          <a:prstGeom prst="ellipse">
            <a:avLst/>
          </a:prstGeom>
          <a:noFill/>
          <a:ln w="571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2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26963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587508-8F5D-4797-A45B-7F22763A9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Applications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High </a:t>
            </a:r>
            <a:r>
              <a:rPr lang="de-DE" dirty="0" err="1"/>
              <a:t>Number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Electric Motors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D410EB1-EAA9-405E-ACCE-74FD2C978E7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DE" dirty="0"/>
              <a:t>Electric 2-Wheelers</a:t>
            </a:r>
          </a:p>
          <a:p>
            <a:pPr lvl="1"/>
            <a:endParaRPr lang="de-DE" dirty="0"/>
          </a:p>
          <a:p>
            <a:pPr lvl="1"/>
            <a:r>
              <a:rPr lang="de-DE" dirty="0" err="1"/>
              <a:t>nearly</a:t>
            </a:r>
            <a:r>
              <a:rPr lang="de-DE" dirty="0"/>
              <a:t> </a:t>
            </a:r>
            <a:r>
              <a:rPr lang="de-DE" dirty="0" err="1"/>
              <a:t>exponential</a:t>
            </a:r>
            <a:r>
              <a:rPr lang="de-DE" dirty="0"/>
              <a:t> </a:t>
            </a:r>
            <a:r>
              <a:rPr lang="de-DE" dirty="0" err="1"/>
              <a:t>growth</a:t>
            </a:r>
            <a:endParaRPr lang="de-DE" dirty="0"/>
          </a:p>
          <a:p>
            <a:pPr lvl="1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14ADB8C-BA48-4861-8F72-A6EC5D4CBF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E11744-D4C9-4EA1-ABB1-E54BA80F88F9}" type="slidenum">
              <a:rPr lang="de-DE" altLang="de-DE" smtClean="0"/>
              <a:pPr/>
              <a:t>6</a:t>
            </a:fld>
            <a:endParaRPr lang="de-DE" alt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BF028C3-17DB-42A6-A066-9F3A90F38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&lt;Name&gt;, FEAAM GmbH, &lt;DATUM&gt;</a:t>
            </a:r>
            <a:endParaRPr lang="de-DE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79502AB-A91A-4858-A4C3-EF5456DA6F01}"/>
              </a:ext>
            </a:extLst>
          </p:cNvPr>
          <p:cNvSpPr txBox="1"/>
          <p:nvPr/>
        </p:nvSpPr>
        <p:spPr>
          <a:xfrm>
            <a:off x="4499992" y="6392469"/>
            <a:ext cx="459933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source: https://www.fortunebusinessinsights.com/electric-two-wheeler-powertrain-market-113284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F49F3E06-BEE1-4D32-8ED2-B5507B124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1192" y="1556792"/>
            <a:ext cx="5021288" cy="2551938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CA7FC1E7-A75E-4BFA-8669-57F8409D21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874" y="2947620"/>
            <a:ext cx="3368618" cy="232222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02124608-B6AD-42F9-968F-ED453E87B5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521" y="4831304"/>
            <a:ext cx="6248809" cy="504055"/>
          </a:xfrm>
          <a:prstGeom prst="rect">
            <a:avLst/>
          </a:prstGeom>
        </p:spPr>
      </p:pic>
      <p:sp>
        <p:nvSpPr>
          <p:cNvPr id="11" name="Ellipse 10">
            <a:extLst>
              <a:ext uri="{FF2B5EF4-FFF2-40B4-BE49-F238E27FC236}">
                <a16:creationId xmlns:a16="http://schemas.microsoft.com/office/drawing/2014/main" id="{176ACA9E-9489-4CCB-810F-612F92A557B6}"/>
              </a:ext>
            </a:extLst>
          </p:cNvPr>
          <p:cNvSpPr/>
          <p:nvPr/>
        </p:nvSpPr>
        <p:spPr bwMode="auto">
          <a:xfrm>
            <a:off x="7740352" y="4879646"/>
            <a:ext cx="617155" cy="402274"/>
          </a:xfrm>
          <a:prstGeom prst="ellipse">
            <a:avLst/>
          </a:prstGeom>
          <a:noFill/>
          <a:ln w="571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2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37615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587508-8F5D-4797-A45B-7F22763A9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Applications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High </a:t>
            </a:r>
            <a:r>
              <a:rPr lang="de-DE" dirty="0" err="1"/>
              <a:t>Number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Electric Motors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D410EB1-EAA9-405E-ACCE-74FD2C978E7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DE" dirty="0"/>
              <a:t>Electric 3-Wheelers</a:t>
            </a:r>
          </a:p>
          <a:p>
            <a:pPr lvl="1"/>
            <a:endParaRPr lang="de-DE" dirty="0"/>
          </a:p>
          <a:p>
            <a:pPr lvl="1"/>
            <a:r>
              <a:rPr lang="de-DE" dirty="0" err="1"/>
              <a:t>nearly</a:t>
            </a:r>
            <a:r>
              <a:rPr lang="de-DE" dirty="0"/>
              <a:t> </a:t>
            </a:r>
            <a:r>
              <a:rPr lang="de-DE" dirty="0" err="1"/>
              <a:t>exponential</a:t>
            </a:r>
            <a:r>
              <a:rPr lang="de-DE" dirty="0"/>
              <a:t> </a:t>
            </a:r>
            <a:r>
              <a:rPr lang="de-DE" dirty="0" err="1"/>
              <a:t>growth</a:t>
            </a:r>
            <a:endParaRPr lang="de-DE" dirty="0"/>
          </a:p>
          <a:p>
            <a:pPr lvl="1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14ADB8C-BA48-4861-8F72-A6EC5D4CBF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E11744-D4C9-4EA1-ABB1-E54BA80F88F9}" type="slidenum">
              <a:rPr lang="de-DE" altLang="de-DE" smtClean="0"/>
              <a:pPr/>
              <a:t>7</a:t>
            </a:fld>
            <a:endParaRPr lang="de-DE" alt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BF028C3-17DB-42A6-A066-9F3A90F38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&lt;Name&gt;, FEAAM GmbH, &lt;DATUM&gt;</a:t>
            </a:r>
            <a:endParaRPr lang="de-DE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79502AB-A91A-4858-A4C3-EF5456DA6F01}"/>
              </a:ext>
            </a:extLst>
          </p:cNvPr>
          <p:cNvSpPr txBox="1"/>
          <p:nvPr/>
        </p:nvSpPr>
        <p:spPr>
          <a:xfrm>
            <a:off x="4427984" y="6392469"/>
            <a:ext cx="46746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source: https://www.fortunebusinessinsights.com/electric-three-wheeler-powertrain-market-113285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E00E079-81F3-46BC-8769-FEB227330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3656" y="1484784"/>
            <a:ext cx="5048824" cy="252028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06C79021-980F-4E9F-9F67-8BF5946A1F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3155541"/>
            <a:ext cx="3448120" cy="2155075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999E148-45A0-432D-BC7E-6BACFC4A88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3463" y="4708841"/>
            <a:ext cx="5959564" cy="494863"/>
          </a:xfrm>
          <a:prstGeom prst="rect">
            <a:avLst/>
          </a:prstGeom>
        </p:spPr>
      </p:pic>
      <p:sp>
        <p:nvSpPr>
          <p:cNvPr id="12" name="Ellipse 11">
            <a:extLst>
              <a:ext uri="{FF2B5EF4-FFF2-40B4-BE49-F238E27FC236}">
                <a16:creationId xmlns:a16="http://schemas.microsoft.com/office/drawing/2014/main" id="{6F3A8623-3F92-4FF7-9D8B-A2B4E3E4D078}"/>
              </a:ext>
            </a:extLst>
          </p:cNvPr>
          <p:cNvSpPr/>
          <p:nvPr/>
        </p:nvSpPr>
        <p:spPr bwMode="auto">
          <a:xfrm>
            <a:off x="8020512" y="4755135"/>
            <a:ext cx="617155" cy="402274"/>
          </a:xfrm>
          <a:prstGeom prst="ellipse">
            <a:avLst/>
          </a:prstGeom>
          <a:noFill/>
          <a:ln w="571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2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486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587508-8F5D-4797-A45B-7F22763A9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Applications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High </a:t>
            </a:r>
            <a:r>
              <a:rPr lang="de-DE" dirty="0" err="1"/>
              <a:t>Number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Electric Motors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D410EB1-EAA9-405E-ACCE-74FD2C978E7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DE" dirty="0"/>
              <a:t>Gaming Steering Wheels</a:t>
            </a:r>
          </a:p>
          <a:p>
            <a:pPr lvl="1"/>
            <a:endParaRPr lang="de-DE" dirty="0"/>
          </a:p>
          <a:p>
            <a:pPr lvl="1"/>
            <a:r>
              <a:rPr lang="de-DE" dirty="0"/>
              <a:t>substantial </a:t>
            </a:r>
            <a:r>
              <a:rPr lang="de-DE" dirty="0" err="1"/>
              <a:t>growth</a:t>
            </a:r>
            <a:endParaRPr lang="de-DE" dirty="0"/>
          </a:p>
          <a:p>
            <a:pPr lvl="1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14ADB8C-BA48-4861-8F72-A6EC5D4CBF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E11744-D4C9-4EA1-ABB1-E54BA80F88F9}" type="slidenum">
              <a:rPr lang="de-DE" altLang="de-DE" smtClean="0"/>
              <a:pPr/>
              <a:t>8</a:t>
            </a:fld>
            <a:endParaRPr lang="de-DE" alt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BF028C3-17DB-42A6-A066-9F3A90F38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&lt;Name&gt;, FEAAM GmbH, &lt;DATUM&gt;</a:t>
            </a:r>
            <a:endParaRPr lang="de-DE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79502AB-A91A-4858-A4C3-EF5456DA6F01}"/>
              </a:ext>
            </a:extLst>
          </p:cNvPr>
          <p:cNvSpPr txBox="1"/>
          <p:nvPr/>
        </p:nvSpPr>
        <p:spPr>
          <a:xfrm>
            <a:off x="4427984" y="6392469"/>
            <a:ext cx="470673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source: https://www.databridgemarketresearch.com/reports/global-gaming-steering-wheels-market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15B64DCE-7C9B-4380-9F5E-A50654739A9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017"/>
          <a:stretch/>
        </p:blipFill>
        <p:spPr>
          <a:xfrm>
            <a:off x="5775706" y="3861048"/>
            <a:ext cx="3348259" cy="2297384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16DE7C17-4A8C-4662-90AF-05C31C2B49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2461186"/>
            <a:ext cx="5904656" cy="2364628"/>
          </a:xfrm>
          <a:prstGeom prst="rect">
            <a:avLst/>
          </a:prstGeom>
        </p:spPr>
      </p:pic>
      <p:sp>
        <p:nvSpPr>
          <p:cNvPr id="10" name="Ellipse 9">
            <a:extLst>
              <a:ext uri="{FF2B5EF4-FFF2-40B4-BE49-F238E27FC236}">
                <a16:creationId xmlns:a16="http://schemas.microsoft.com/office/drawing/2014/main" id="{A573A41E-9824-4BF6-8E95-B8A56152D143}"/>
              </a:ext>
            </a:extLst>
          </p:cNvPr>
          <p:cNvSpPr/>
          <p:nvPr/>
        </p:nvSpPr>
        <p:spPr bwMode="auto">
          <a:xfrm>
            <a:off x="5580112" y="3386766"/>
            <a:ext cx="617155" cy="402274"/>
          </a:xfrm>
          <a:prstGeom prst="ellipse">
            <a:avLst/>
          </a:prstGeom>
          <a:noFill/>
          <a:ln w="571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2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05320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587508-8F5D-4797-A45B-7F22763A9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Applications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High </a:t>
            </a:r>
            <a:r>
              <a:rPr lang="de-DE" dirty="0" err="1"/>
              <a:t>Number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Electric Motors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D410EB1-EAA9-405E-ACCE-74FD2C978E7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DE" dirty="0"/>
              <a:t>HVAC Systems</a:t>
            </a:r>
          </a:p>
          <a:p>
            <a:pPr lvl="1"/>
            <a:endParaRPr lang="de-DE" dirty="0"/>
          </a:p>
          <a:p>
            <a:pPr lvl="1"/>
            <a:r>
              <a:rPr lang="de-DE" dirty="0"/>
              <a:t>substantial </a:t>
            </a:r>
            <a:r>
              <a:rPr lang="de-DE" dirty="0" err="1"/>
              <a:t>growth</a:t>
            </a:r>
            <a:endParaRPr lang="de-DE" dirty="0"/>
          </a:p>
          <a:p>
            <a:pPr lvl="1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14ADB8C-BA48-4861-8F72-A6EC5D4CBF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E11744-D4C9-4EA1-ABB1-E54BA80F88F9}" type="slidenum">
              <a:rPr lang="de-DE" altLang="de-DE" smtClean="0"/>
              <a:pPr/>
              <a:t>9</a:t>
            </a:fld>
            <a:endParaRPr lang="de-DE" alt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BF028C3-17DB-42A6-A066-9F3A90F38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&lt;Name&gt;, FEAAM GmbH, &lt;DATUM&gt;</a:t>
            </a:r>
            <a:endParaRPr lang="de-DE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79502AB-A91A-4858-A4C3-EF5456DA6F01}"/>
              </a:ext>
            </a:extLst>
          </p:cNvPr>
          <p:cNvSpPr txBox="1"/>
          <p:nvPr/>
        </p:nvSpPr>
        <p:spPr>
          <a:xfrm>
            <a:off x="4427984" y="6392469"/>
            <a:ext cx="470673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source: https://www.marketsandmarkets.com/Market-Reports/hvac-system-market-202111288.html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528FB39F-5235-4706-A7CA-4BA14E779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2534425"/>
            <a:ext cx="7563632" cy="2603223"/>
          </a:xfrm>
          <a:prstGeom prst="rect">
            <a:avLst/>
          </a:prstGeom>
        </p:spPr>
      </p:pic>
      <p:sp>
        <p:nvSpPr>
          <p:cNvPr id="9" name="Ellipse 8">
            <a:extLst>
              <a:ext uri="{FF2B5EF4-FFF2-40B4-BE49-F238E27FC236}">
                <a16:creationId xmlns:a16="http://schemas.microsoft.com/office/drawing/2014/main" id="{39179B2E-F6BF-4509-8EBE-E170BE2B3DBF}"/>
              </a:ext>
            </a:extLst>
          </p:cNvPr>
          <p:cNvSpPr/>
          <p:nvPr/>
        </p:nvSpPr>
        <p:spPr bwMode="auto">
          <a:xfrm>
            <a:off x="6472775" y="3634899"/>
            <a:ext cx="617155" cy="402274"/>
          </a:xfrm>
          <a:prstGeom prst="ellipse">
            <a:avLst/>
          </a:prstGeom>
          <a:noFill/>
          <a:ln w="571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2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15308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587508-8F5D-4797-A45B-7F22763A9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Applications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High </a:t>
            </a:r>
            <a:r>
              <a:rPr lang="de-DE" dirty="0" err="1"/>
              <a:t>Number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Electric Motors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D410EB1-EAA9-405E-ACCE-74FD2C978E7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DE" dirty="0"/>
              <a:t>Electric Pumps (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submersible</a:t>
            </a:r>
            <a:r>
              <a:rPr lang="de-DE" dirty="0"/>
              <a:t> </a:t>
            </a:r>
            <a:r>
              <a:rPr lang="de-DE" dirty="0" err="1"/>
              <a:t>pumps</a:t>
            </a:r>
            <a:r>
              <a:rPr lang="de-DE" dirty="0"/>
              <a:t>)</a:t>
            </a:r>
          </a:p>
          <a:p>
            <a:pPr lvl="1"/>
            <a:endParaRPr lang="de-DE" dirty="0"/>
          </a:p>
          <a:p>
            <a:pPr lvl="1"/>
            <a:r>
              <a:rPr lang="de-DE" dirty="0"/>
              <a:t>substantial </a:t>
            </a:r>
            <a:r>
              <a:rPr lang="de-DE" dirty="0" err="1"/>
              <a:t>growth</a:t>
            </a:r>
            <a:endParaRPr lang="de-DE" dirty="0"/>
          </a:p>
          <a:p>
            <a:pPr lvl="1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14ADB8C-BA48-4861-8F72-A6EC5D4CBF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E11744-D4C9-4EA1-ABB1-E54BA80F88F9}" type="slidenum">
              <a:rPr lang="de-DE" altLang="de-DE" smtClean="0"/>
              <a:pPr/>
              <a:t>10</a:t>
            </a:fld>
            <a:endParaRPr lang="de-DE" alt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BF028C3-17DB-42A6-A066-9F3A90F38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&lt;Name&gt;, FEAAM GmbH, &lt;DATUM&gt;</a:t>
            </a:r>
            <a:endParaRPr lang="de-DE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79502AB-A91A-4858-A4C3-EF5456DA6F01}"/>
              </a:ext>
            </a:extLst>
          </p:cNvPr>
          <p:cNvSpPr txBox="1"/>
          <p:nvPr/>
        </p:nvSpPr>
        <p:spPr>
          <a:xfrm>
            <a:off x="4844195" y="6392469"/>
            <a:ext cx="426430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source: https://www.alliedmarketresearch.com/electric-submersible-pump-market-A10792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C662D7C8-E5E7-435C-A593-DEF3FABF5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2476726"/>
            <a:ext cx="5472608" cy="2754919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56037BEA-4919-4443-8883-C3C9D55EF4A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702" t="5784" r="27565" b="10709"/>
          <a:stretch/>
        </p:blipFill>
        <p:spPr>
          <a:xfrm>
            <a:off x="6403683" y="1705987"/>
            <a:ext cx="2704821" cy="2277786"/>
          </a:xfrm>
          <a:prstGeom prst="rect">
            <a:avLst/>
          </a:prstGeom>
        </p:spPr>
      </p:pic>
      <p:sp>
        <p:nvSpPr>
          <p:cNvPr id="10" name="Ellipse 9">
            <a:extLst>
              <a:ext uri="{FF2B5EF4-FFF2-40B4-BE49-F238E27FC236}">
                <a16:creationId xmlns:a16="http://schemas.microsoft.com/office/drawing/2014/main" id="{3FC9B95E-D061-4A86-9130-C0CBFAB271F3}"/>
              </a:ext>
            </a:extLst>
          </p:cNvPr>
          <p:cNvSpPr/>
          <p:nvPr/>
        </p:nvSpPr>
        <p:spPr bwMode="auto">
          <a:xfrm>
            <a:off x="1354520" y="4221088"/>
            <a:ext cx="617155" cy="402274"/>
          </a:xfrm>
          <a:prstGeom prst="ellipse">
            <a:avLst/>
          </a:prstGeom>
          <a:noFill/>
          <a:ln w="571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2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621146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587508-8F5D-4797-A45B-7F22763A9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Applications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High </a:t>
            </a:r>
            <a:r>
              <a:rPr lang="de-DE" dirty="0" err="1"/>
              <a:t>Number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Electric Motors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D410EB1-EAA9-405E-ACCE-74FD2C978E7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DE" dirty="0"/>
              <a:t>Wind Energy</a:t>
            </a:r>
          </a:p>
          <a:p>
            <a:pPr lvl="1"/>
            <a:endParaRPr lang="de-DE" dirty="0"/>
          </a:p>
          <a:p>
            <a:pPr lvl="1"/>
            <a:r>
              <a:rPr lang="de-DE" dirty="0"/>
              <a:t>substantial </a:t>
            </a:r>
            <a:r>
              <a:rPr lang="de-DE" dirty="0" err="1"/>
              <a:t>growth</a:t>
            </a:r>
            <a:endParaRPr lang="de-DE" dirty="0"/>
          </a:p>
          <a:p>
            <a:pPr lvl="1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14ADB8C-BA48-4861-8F72-A6EC5D4CBF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E11744-D4C9-4EA1-ABB1-E54BA80F88F9}" type="slidenum">
              <a:rPr lang="de-DE" altLang="de-DE" smtClean="0"/>
              <a:pPr/>
              <a:t>11</a:t>
            </a:fld>
            <a:endParaRPr lang="de-DE" alt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BF028C3-17DB-42A6-A066-9F3A90F38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&lt;Name&gt;, FEAAM GmbH, &lt;DATUM&gt;</a:t>
            </a:r>
            <a:endParaRPr lang="de-DE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79502AB-A91A-4858-A4C3-EF5456DA6F01}"/>
              </a:ext>
            </a:extLst>
          </p:cNvPr>
          <p:cNvSpPr txBox="1"/>
          <p:nvPr/>
        </p:nvSpPr>
        <p:spPr>
          <a:xfrm>
            <a:off x="5547914" y="6392469"/>
            <a:ext cx="356059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source: https://www.gminsights.com/industry-analysis/wind-energy-market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1DDB6102-B09C-4CD2-853A-AB143182F7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3224008"/>
            <a:ext cx="2485746" cy="2653264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457F3DE1-E2F3-48A6-8DAB-318D23574E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0140" y="3107822"/>
            <a:ext cx="5792180" cy="3273506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5E9B2C99-B2F7-4EB4-A0B0-80A1BF9766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1920" y="1658243"/>
            <a:ext cx="4104456" cy="2130797"/>
          </a:xfrm>
          <a:prstGeom prst="rect">
            <a:avLst/>
          </a:prstGeom>
        </p:spPr>
      </p:pic>
      <p:sp>
        <p:nvSpPr>
          <p:cNvPr id="10" name="Ellipse 9">
            <a:extLst>
              <a:ext uri="{FF2B5EF4-FFF2-40B4-BE49-F238E27FC236}">
                <a16:creationId xmlns:a16="http://schemas.microsoft.com/office/drawing/2014/main" id="{1CA33F2A-593D-4232-9A1F-292D021F2F3B}"/>
              </a:ext>
            </a:extLst>
          </p:cNvPr>
          <p:cNvSpPr/>
          <p:nvPr/>
        </p:nvSpPr>
        <p:spPr bwMode="auto">
          <a:xfrm>
            <a:off x="4211960" y="2780928"/>
            <a:ext cx="617155" cy="402274"/>
          </a:xfrm>
          <a:prstGeom prst="ellipse">
            <a:avLst/>
          </a:prstGeom>
          <a:noFill/>
          <a:ln w="571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2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503510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587508-8F5D-4797-A45B-7F22763A9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Summary: </a:t>
            </a:r>
            <a:r>
              <a:rPr lang="de-DE" dirty="0" err="1"/>
              <a:t>Applications</a:t>
            </a:r>
            <a:r>
              <a:rPr lang="de-DE" dirty="0"/>
              <a:t> / </a:t>
            </a:r>
            <a:r>
              <a:rPr lang="de-DE" dirty="0" err="1"/>
              <a:t>Markets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D410EB1-EAA9-405E-ACCE-74FD2C978E7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DE" dirty="0" err="1"/>
              <a:t>No</a:t>
            </a:r>
            <a:r>
              <a:rPr lang="de-DE" dirty="0"/>
              <a:t> Focus in Automotive</a:t>
            </a:r>
          </a:p>
          <a:p>
            <a:pPr lvl="1"/>
            <a:r>
              <a:rPr lang="de-DE" dirty="0"/>
              <a:t>i</a:t>
            </a:r>
            <a:r>
              <a:rPr lang="de-DE"/>
              <a:t>n </a:t>
            </a:r>
            <a:r>
              <a:rPr lang="de-DE" dirty="0" err="1"/>
              <a:t>spite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actual</a:t>
            </a:r>
            <a:r>
              <a:rPr lang="de-DE" dirty="0"/>
              <a:t> </a:t>
            </a:r>
            <a:r>
              <a:rPr lang="de-DE" dirty="0" err="1"/>
              <a:t>projects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BMW, </a:t>
            </a:r>
            <a:r>
              <a:rPr lang="de-DE" dirty="0" err="1"/>
              <a:t>Rivian</a:t>
            </a:r>
            <a:r>
              <a:rPr lang="de-DE" dirty="0"/>
              <a:t>, and (</a:t>
            </a:r>
            <a:r>
              <a:rPr lang="de-DE" dirty="0" err="1"/>
              <a:t>hopefully</a:t>
            </a:r>
            <a:r>
              <a:rPr lang="de-DE" dirty="0"/>
              <a:t> </a:t>
            </a:r>
            <a:r>
              <a:rPr lang="de-DE" dirty="0" err="1"/>
              <a:t>soon</a:t>
            </a:r>
            <a:r>
              <a:rPr lang="de-DE" dirty="0"/>
              <a:t>) Xiaomi</a:t>
            </a:r>
          </a:p>
          <a:p>
            <a:pPr lvl="1"/>
            <a:r>
              <a:rPr lang="de-DE" dirty="0" err="1"/>
              <a:t>low</a:t>
            </a:r>
            <a:r>
              <a:rPr lang="de-DE" dirty="0"/>
              <a:t> </a:t>
            </a:r>
            <a:r>
              <a:rPr lang="de-DE" dirty="0" err="1"/>
              <a:t>margins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suppliers</a:t>
            </a:r>
            <a:endParaRPr lang="de-DE" dirty="0"/>
          </a:p>
          <a:p>
            <a:pPr lvl="1"/>
            <a:r>
              <a:rPr lang="de-DE" dirty="0" err="1"/>
              <a:t>very</a:t>
            </a:r>
            <a:r>
              <a:rPr lang="de-DE" dirty="0"/>
              <a:t> </a:t>
            </a:r>
            <a:r>
              <a:rPr lang="de-DE" dirty="0" err="1"/>
              <a:t>long</a:t>
            </a:r>
            <a:r>
              <a:rPr lang="de-DE" dirty="0"/>
              <a:t> </a:t>
            </a:r>
            <a:r>
              <a:rPr lang="de-DE" dirty="0" err="1"/>
              <a:t>development</a:t>
            </a:r>
            <a:r>
              <a:rPr lang="de-DE" dirty="0"/>
              <a:t> </a:t>
            </a:r>
            <a:r>
              <a:rPr lang="de-DE" dirty="0" err="1"/>
              <a:t>cycles</a:t>
            </a:r>
            <a:endParaRPr lang="de-DE" dirty="0"/>
          </a:p>
          <a:p>
            <a:pPr lvl="1"/>
            <a:r>
              <a:rPr lang="de-DE" dirty="0" err="1"/>
              <a:t>destructive</a:t>
            </a:r>
            <a:r>
              <a:rPr lang="de-DE" dirty="0"/>
              <a:t> </a:t>
            </a:r>
            <a:r>
              <a:rPr lang="de-DE" dirty="0" err="1"/>
              <a:t>competition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well-</a:t>
            </a:r>
            <a:r>
              <a:rPr lang="de-DE" dirty="0" err="1"/>
              <a:t>established</a:t>
            </a:r>
            <a:r>
              <a:rPr lang="de-DE" dirty="0"/>
              <a:t> </a:t>
            </a:r>
            <a:r>
              <a:rPr lang="de-DE" dirty="0" err="1"/>
              <a:t>suppliers</a:t>
            </a:r>
            <a:endParaRPr lang="de-DE" dirty="0"/>
          </a:p>
          <a:p>
            <a:pPr lvl="1"/>
            <a:r>
              <a:rPr lang="de-DE" dirty="0" err="1"/>
              <a:t>depending</a:t>
            </a:r>
            <a:r>
              <a:rPr lang="de-DE" dirty="0"/>
              <a:t> on </a:t>
            </a:r>
            <a:r>
              <a:rPr lang="de-DE" dirty="0" err="1"/>
              <a:t>application</a:t>
            </a:r>
            <a:r>
              <a:rPr lang="de-DE" dirty="0"/>
              <a:t>: limited </a:t>
            </a:r>
            <a:r>
              <a:rPr lang="de-DE" dirty="0" err="1"/>
              <a:t>growth</a:t>
            </a:r>
            <a:r>
              <a:rPr lang="de-DE" dirty="0"/>
              <a:t> rate</a:t>
            </a:r>
          </a:p>
          <a:p>
            <a:pPr lvl="1"/>
            <a:r>
              <a:rPr lang="de-DE" dirty="0" err="1"/>
              <a:t>exception</a:t>
            </a:r>
            <a:r>
              <a:rPr lang="de-DE" dirty="0"/>
              <a:t>: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special</a:t>
            </a:r>
            <a:r>
              <a:rPr lang="de-DE" dirty="0"/>
              <a:t> </a:t>
            </a:r>
            <a:r>
              <a:rPr lang="de-DE" dirty="0" err="1"/>
              <a:t>applications</a:t>
            </a:r>
            <a:r>
              <a:rPr lang="de-DE" dirty="0"/>
              <a:t> / </a:t>
            </a:r>
            <a:r>
              <a:rPr lang="de-DE" dirty="0" err="1"/>
              <a:t>developments</a:t>
            </a:r>
            <a:endParaRPr lang="de-DE" dirty="0"/>
          </a:p>
          <a:p>
            <a:pPr lvl="1"/>
            <a:endParaRPr lang="de-DE" dirty="0"/>
          </a:p>
          <a:p>
            <a:r>
              <a:rPr lang="de-DE" dirty="0"/>
              <a:t>Focus on </a:t>
            </a:r>
            <a:r>
              <a:rPr lang="de-DE" dirty="0">
                <a:solidFill>
                  <a:srgbClr val="FF0000"/>
                </a:solidFill>
              </a:rPr>
              <a:t>Permanent-Magnet Motors </a:t>
            </a:r>
            <a:r>
              <a:rPr lang="de-DE" u="sng" dirty="0"/>
              <a:t>and</a:t>
            </a:r>
            <a:r>
              <a:rPr lang="de-DE" dirty="0"/>
              <a:t> </a:t>
            </a:r>
            <a:r>
              <a:rPr lang="de-DE" dirty="0">
                <a:solidFill>
                  <a:srgbClr val="FF0000"/>
                </a:solidFill>
              </a:rPr>
              <a:t>Magnet-Free Motors</a:t>
            </a:r>
            <a:r>
              <a:rPr lang="de-DE" dirty="0"/>
              <a:t>, </a:t>
            </a:r>
            <a:r>
              <a:rPr lang="de-DE" dirty="0" err="1"/>
              <a:t>depending</a:t>
            </a:r>
            <a:r>
              <a:rPr lang="de-DE" dirty="0"/>
              <a:t> on</a:t>
            </a:r>
          </a:p>
          <a:p>
            <a:pPr lvl="1"/>
            <a:r>
              <a:rPr lang="de-DE" dirty="0" err="1"/>
              <a:t>world</a:t>
            </a:r>
            <a:r>
              <a:rPr lang="de-DE" dirty="0"/>
              <a:t> </a:t>
            </a:r>
            <a:r>
              <a:rPr lang="de-DE" dirty="0" err="1"/>
              <a:t>region</a:t>
            </a:r>
            <a:r>
              <a:rPr lang="de-DE" dirty="0"/>
              <a:t> (e.g. rare-</a:t>
            </a:r>
            <a:r>
              <a:rPr lang="de-DE" dirty="0" err="1"/>
              <a:t>earth</a:t>
            </a:r>
            <a:r>
              <a:rPr lang="de-DE" dirty="0"/>
              <a:t> </a:t>
            </a:r>
            <a:r>
              <a:rPr lang="de-DE" dirty="0" err="1"/>
              <a:t>magnets</a:t>
            </a:r>
            <a:r>
              <a:rPr lang="de-DE" dirty="0"/>
              <a:t> in China)</a:t>
            </a:r>
          </a:p>
          <a:p>
            <a:pPr lvl="1"/>
            <a:r>
              <a:rPr lang="de-DE" dirty="0" err="1"/>
              <a:t>application</a:t>
            </a:r>
            <a:r>
              <a:rPr lang="de-DE" dirty="0"/>
              <a:t> (</a:t>
            </a:r>
            <a:r>
              <a:rPr lang="de-DE" dirty="0" err="1"/>
              <a:t>requirements</a:t>
            </a:r>
            <a:r>
              <a:rPr lang="de-DE" dirty="0"/>
              <a:t> </a:t>
            </a:r>
            <a:r>
              <a:rPr lang="de-DE" dirty="0" err="1"/>
              <a:t>sometimes</a:t>
            </a:r>
            <a:r>
              <a:rPr lang="de-DE" dirty="0"/>
              <a:t> </a:t>
            </a:r>
            <a:r>
              <a:rPr lang="de-DE" dirty="0" err="1"/>
              <a:t>dictate</a:t>
            </a:r>
            <a:r>
              <a:rPr lang="de-DE" dirty="0"/>
              <a:t> </a:t>
            </a:r>
            <a:r>
              <a:rPr lang="de-DE" dirty="0" err="1"/>
              <a:t>motor</a:t>
            </a:r>
            <a:r>
              <a:rPr lang="de-DE" dirty="0"/>
              <a:t> </a:t>
            </a:r>
            <a:r>
              <a:rPr lang="de-DE" dirty="0" err="1"/>
              <a:t>topology</a:t>
            </a:r>
            <a:r>
              <a:rPr lang="de-DE" dirty="0"/>
              <a:t>)</a:t>
            </a:r>
          </a:p>
          <a:p>
            <a:pPr lvl="1"/>
            <a:endParaRPr lang="de-DE" dirty="0"/>
          </a:p>
          <a:p>
            <a:r>
              <a:rPr lang="de-DE" dirty="0"/>
              <a:t>Promising </a:t>
            </a:r>
            <a:r>
              <a:rPr lang="de-DE" dirty="0" err="1"/>
              <a:t>Markets</a:t>
            </a:r>
            <a:endParaRPr lang="de-DE" dirty="0"/>
          </a:p>
          <a:p>
            <a:pPr lvl="1"/>
            <a:r>
              <a:rPr lang="de-DE" dirty="0"/>
              <a:t>high </a:t>
            </a:r>
            <a:r>
              <a:rPr lang="de-DE" dirty="0" err="1"/>
              <a:t>growth</a:t>
            </a:r>
            <a:r>
              <a:rPr lang="de-DE" dirty="0"/>
              <a:t> rate</a:t>
            </a:r>
          </a:p>
          <a:p>
            <a:pPr lvl="1"/>
            <a:r>
              <a:rPr lang="de-DE" dirty="0"/>
              <a:t>„</a:t>
            </a:r>
            <a:r>
              <a:rPr lang="de-DE" dirty="0" err="1"/>
              <a:t>new</a:t>
            </a:r>
            <a:r>
              <a:rPr lang="de-DE" dirty="0"/>
              <a:t>“ </a:t>
            </a:r>
            <a:r>
              <a:rPr lang="de-DE" dirty="0" err="1"/>
              <a:t>applications</a:t>
            </a:r>
            <a:endParaRPr lang="de-DE" dirty="0"/>
          </a:p>
          <a:p>
            <a:pPr lvl="1"/>
            <a:r>
              <a:rPr lang="de-DE" dirty="0" err="1"/>
              <a:t>always</a:t>
            </a:r>
            <a:r>
              <a:rPr lang="de-DE" dirty="0"/>
              <a:t> </a:t>
            </a:r>
            <a:r>
              <a:rPr lang="de-DE" dirty="0" err="1"/>
              <a:t>being</a:t>
            </a:r>
            <a:r>
              <a:rPr lang="de-DE" dirty="0"/>
              <a:t> open </a:t>
            </a:r>
            <a:r>
              <a:rPr lang="de-DE" dirty="0" err="1"/>
              <a:t>to</a:t>
            </a:r>
            <a:r>
              <a:rPr lang="de-DE" dirty="0"/>
              <a:t> additional potential </a:t>
            </a:r>
            <a:r>
              <a:rPr lang="de-DE" dirty="0" err="1"/>
              <a:t>markets</a:t>
            </a:r>
            <a:endParaRPr lang="de-DE" dirty="0"/>
          </a:p>
          <a:p>
            <a:pPr lvl="1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14ADB8C-BA48-4861-8F72-A6EC5D4CBF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E11744-D4C9-4EA1-ABB1-E54BA80F88F9}" type="slidenum">
              <a:rPr lang="de-DE" altLang="de-DE" smtClean="0"/>
              <a:pPr/>
              <a:t>12</a:t>
            </a:fld>
            <a:endParaRPr lang="de-DE" alt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BF028C3-17DB-42A6-A066-9F3A90F38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&lt;Name&gt;, FEAAM GmbH, &lt;DATUM&gt;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35843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587508-8F5D-4797-A45B-7F22763A9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FEAAM Vision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D410EB1-EAA9-405E-ACCE-74FD2C978E7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DE" dirty="0"/>
              <a:t>FEAAM </a:t>
            </a:r>
            <a:r>
              <a:rPr lang="de-DE" dirty="0" err="1"/>
              <a:t>Focal</a:t>
            </a:r>
            <a:r>
              <a:rPr lang="de-DE" dirty="0"/>
              <a:t> Points</a:t>
            </a:r>
          </a:p>
          <a:p>
            <a:pPr lvl="1"/>
            <a:r>
              <a:rPr lang="de-DE" dirty="0" err="1"/>
              <a:t>short</a:t>
            </a:r>
            <a:r>
              <a:rPr lang="de-DE" dirty="0"/>
              <a:t>-term: 	</a:t>
            </a:r>
            <a:r>
              <a:rPr lang="de-DE" dirty="0" err="1"/>
              <a:t>electric</a:t>
            </a:r>
            <a:r>
              <a:rPr lang="de-DE" dirty="0"/>
              <a:t> </a:t>
            </a:r>
            <a:r>
              <a:rPr lang="de-DE" dirty="0" err="1"/>
              <a:t>motor</a:t>
            </a:r>
            <a:r>
              <a:rPr lang="de-DE" dirty="0"/>
              <a:t> </a:t>
            </a:r>
            <a:r>
              <a:rPr lang="de-DE" dirty="0" err="1"/>
              <a:t>development</a:t>
            </a:r>
            <a:br>
              <a:rPr lang="de-DE" dirty="0"/>
            </a:br>
            <a:r>
              <a:rPr lang="de-DE" dirty="0"/>
              <a:t>		</a:t>
            </a:r>
            <a:r>
              <a:rPr lang="de-DE" dirty="0" err="1"/>
              <a:t>development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special</a:t>
            </a:r>
            <a:r>
              <a:rPr lang="de-DE" dirty="0"/>
              <a:t> </a:t>
            </a:r>
            <a:r>
              <a:rPr lang="de-DE" dirty="0" err="1"/>
              <a:t>applications</a:t>
            </a:r>
            <a:br>
              <a:rPr lang="de-DE" dirty="0"/>
            </a:br>
            <a:r>
              <a:rPr lang="de-DE" dirty="0"/>
              <a:t>		</a:t>
            </a:r>
            <a:r>
              <a:rPr lang="de-DE" dirty="0" err="1"/>
              <a:t>control</a:t>
            </a:r>
            <a:r>
              <a:rPr lang="de-DE" dirty="0"/>
              <a:t> </a:t>
            </a:r>
            <a:r>
              <a:rPr lang="de-DE" dirty="0" err="1"/>
              <a:t>development</a:t>
            </a:r>
            <a:br>
              <a:rPr lang="de-DE" dirty="0"/>
            </a:br>
            <a:r>
              <a:rPr lang="de-DE" dirty="0"/>
              <a:t>		</a:t>
            </a:r>
            <a:r>
              <a:rPr lang="de-DE" dirty="0" err="1"/>
              <a:t>focus</a:t>
            </a:r>
            <a:r>
              <a:rPr lang="de-DE" dirty="0"/>
              <a:t> on </a:t>
            </a:r>
            <a:r>
              <a:rPr lang="de-DE" dirty="0" err="1"/>
              <a:t>sale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licenses</a:t>
            </a:r>
            <a:r>
              <a:rPr lang="de-DE" dirty="0"/>
              <a:t> (</a:t>
            </a:r>
            <a:r>
              <a:rPr lang="de-DE" dirty="0" err="1"/>
              <a:t>increasing</a:t>
            </a:r>
            <a:r>
              <a:rPr lang="de-DE" dirty="0"/>
              <a:t> </a:t>
            </a:r>
            <a:r>
              <a:rPr lang="de-DE" dirty="0" err="1"/>
              <a:t>income</a:t>
            </a:r>
            <a:r>
              <a:rPr lang="de-DE" dirty="0"/>
              <a:t> via </a:t>
            </a:r>
            <a:r>
              <a:rPr lang="de-DE" dirty="0" err="1"/>
              <a:t>license</a:t>
            </a:r>
            <a:r>
              <a:rPr lang="de-DE" dirty="0"/>
              <a:t> </a:t>
            </a:r>
            <a:r>
              <a:rPr lang="de-DE" dirty="0" err="1"/>
              <a:t>fees</a:t>
            </a:r>
            <a:r>
              <a:rPr lang="de-DE" dirty="0"/>
              <a:t>)</a:t>
            </a:r>
          </a:p>
          <a:p>
            <a:pPr lvl="1"/>
            <a:r>
              <a:rPr lang="de-DE" dirty="0" err="1"/>
              <a:t>mid</a:t>
            </a:r>
            <a:r>
              <a:rPr lang="de-DE" dirty="0"/>
              <a:t>-term:	</a:t>
            </a:r>
            <a:r>
              <a:rPr lang="de-DE" dirty="0" err="1"/>
              <a:t>gear</a:t>
            </a:r>
            <a:r>
              <a:rPr lang="de-DE" dirty="0"/>
              <a:t>-box </a:t>
            </a:r>
            <a:r>
              <a:rPr lang="de-DE" dirty="0" err="1"/>
              <a:t>expertise</a:t>
            </a:r>
            <a:br>
              <a:rPr lang="de-DE" dirty="0"/>
            </a:br>
            <a:r>
              <a:rPr lang="de-DE" dirty="0"/>
              <a:t>		power </a:t>
            </a:r>
            <a:r>
              <a:rPr lang="de-DE" dirty="0" err="1"/>
              <a:t>electronics</a:t>
            </a:r>
            <a:r>
              <a:rPr lang="de-DE" dirty="0"/>
              <a:t> </a:t>
            </a:r>
            <a:r>
              <a:rPr lang="de-DE" dirty="0" err="1"/>
              <a:t>expertise</a:t>
            </a:r>
            <a:br>
              <a:rPr lang="de-DE" dirty="0"/>
            </a:br>
            <a:r>
              <a:rPr lang="de-DE" dirty="0"/>
              <a:t>		</a:t>
            </a:r>
            <a:r>
              <a:rPr lang="de-DE" dirty="0" err="1"/>
              <a:t>service</a:t>
            </a:r>
            <a:r>
              <a:rPr lang="de-DE" dirty="0"/>
              <a:t> </a:t>
            </a:r>
            <a:r>
              <a:rPr lang="de-DE" dirty="0" err="1"/>
              <a:t>delivery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complete</a:t>
            </a:r>
            <a:r>
              <a:rPr lang="de-DE" dirty="0"/>
              <a:t> </a:t>
            </a:r>
            <a:r>
              <a:rPr lang="de-DE" dirty="0" err="1"/>
              <a:t>drive</a:t>
            </a:r>
            <a:r>
              <a:rPr lang="de-DE" dirty="0"/>
              <a:t> </a:t>
            </a:r>
            <a:r>
              <a:rPr lang="de-DE" dirty="0" err="1"/>
              <a:t>systems</a:t>
            </a:r>
            <a:endParaRPr lang="de-DE" dirty="0"/>
          </a:p>
          <a:p>
            <a:pPr lvl="1"/>
            <a:r>
              <a:rPr lang="de-DE" dirty="0" err="1"/>
              <a:t>long</a:t>
            </a:r>
            <a:r>
              <a:rPr lang="de-DE" dirty="0"/>
              <a:t>-term:	</a:t>
            </a:r>
            <a:r>
              <a:rPr lang="de-DE" dirty="0" err="1"/>
              <a:t>gear</a:t>
            </a:r>
            <a:r>
              <a:rPr lang="de-DE" dirty="0"/>
              <a:t>-box </a:t>
            </a:r>
            <a:r>
              <a:rPr lang="de-DE" dirty="0" err="1"/>
              <a:t>development</a:t>
            </a:r>
            <a:r>
              <a:rPr lang="de-DE" dirty="0"/>
              <a:t> ???</a:t>
            </a:r>
            <a:br>
              <a:rPr lang="de-DE" dirty="0"/>
            </a:br>
            <a:r>
              <a:rPr lang="de-DE" dirty="0"/>
              <a:t>		power </a:t>
            </a:r>
            <a:r>
              <a:rPr lang="de-DE" dirty="0" err="1"/>
              <a:t>electronics</a:t>
            </a:r>
            <a:r>
              <a:rPr lang="de-DE" dirty="0"/>
              <a:t> </a:t>
            </a:r>
            <a:r>
              <a:rPr lang="de-DE" dirty="0" err="1"/>
              <a:t>development</a:t>
            </a:r>
            <a:r>
              <a:rPr lang="de-DE" dirty="0"/>
              <a:t> ???</a:t>
            </a:r>
            <a:br>
              <a:rPr lang="de-DE" dirty="0"/>
            </a:br>
            <a:r>
              <a:rPr lang="de-DE" dirty="0"/>
              <a:t>		</a:t>
            </a:r>
            <a:r>
              <a:rPr lang="de-DE" dirty="0" err="1"/>
              <a:t>production</a:t>
            </a:r>
            <a:r>
              <a:rPr lang="de-DE" dirty="0"/>
              <a:t> ???</a:t>
            </a:r>
          </a:p>
          <a:p>
            <a:endParaRPr lang="de-DE" dirty="0"/>
          </a:p>
          <a:p>
            <a:r>
              <a:rPr lang="de-DE" dirty="0"/>
              <a:t>Target: </a:t>
            </a:r>
            <a:r>
              <a:rPr lang="de-DE" dirty="0">
                <a:solidFill>
                  <a:srgbClr val="FF0000"/>
                </a:solidFill>
              </a:rPr>
              <a:t>FEAAM </a:t>
            </a:r>
            <a:r>
              <a:rPr lang="de-DE" dirty="0" err="1">
                <a:solidFill>
                  <a:srgbClr val="FF0000"/>
                </a:solidFill>
              </a:rPr>
              <a:t>as</a:t>
            </a:r>
            <a:r>
              <a:rPr lang="de-DE" dirty="0">
                <a:solidFill>
                  <a:srgbClr val="FF0000"/>
                </a:solidFill>
              </a:rPr>
              <a:t> „Hidden Champion“</a:t>
            </a:r>
          </a:p>
          <a:p>
            <a:pPr lvl="1"/>
            <a:r>
              <a:rPr lang="de-DE" dirty="0"/>
              <a:t>in </a:t>
            </a:r>
            <a:r>
              <a:rPr lang="de-DE" dirty="0" err="1"/>
              <a:t>terms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components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applications</a:t>
            </a:r>
            <a:r>
              <a:rPr lang="de-DE" dirty="0"/>
              <a:t> (</a:t>
            </a:r>
            <a:r>
              <a:rPr lang="de-DE" dirty="0" err="1"/>
              <a:t>see</a:t>
            </a:r>
            <a:r>
              <a:rPr lang="de-DE" dirty="0"/>
              <a:t> humanoid </a:t>
            </a:r>
            <a:r>
              <a:rPr lang="de-DE" dirty="0" err="1"/>
              <a:t>robot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in </a:t>
            </a:r>
            <a:r>
              <a:rPr lang="de-DE" dirty="0" err="1"/>
              <a:t>terms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knowledge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public</a:t>
            </a:r>
            <a:endParaRPr lang="de-DE" dirty="0"/>
          </a:p>
          <a:p>
            <a:pPr lvl="1"/>
            <a:r>
              <a:rPr lang="de-DE" dirty="0"/>
              <a:t>NOT in </a:t>
            </a:r>
            <a:r>
              <a:rPr lang="de-DE" dirty="0" err="1"/>
              <a:t>terms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knowledge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experts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field</a:t>
            </a:r>
            <a:endParaRPr lang="de-DE" dirty="0"/>
          </a:p>
          <a:p>
            <a:pPr lvl="1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14ADB8C-BA48-4861-8F72-A6EC5D4CBF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E11744-D4C9-4EA1-ABB1-E54BA80F88F9}" type="slidenum">
              <a:rPr lang="de-DE" altLang="de-DE" smtClean="0"/>
              <a:pPr/>
              <a:t>13</a:t>
            </a:fld>
            <a:endParaRPr lang="de-DE" alt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BF028C3-17DB-42A6-A066-9F3A90F38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&lt;Name&gt;, FEAAM GmbH, &lt;DATUM&gt;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18178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587508-8F5D-4797-A45B-7F22763A9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Next </a:t>
            </a:r>
            <a:r>
              <a:rPr lang="de-DE" dirty="0" err="1"/>
              <a:t>Steps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D410EB1-EAA9-405E-ACCE-74FD2C978E7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DE" dirty="0"/>
              <a:t>Sales </a:t>
            </a:r>
            <a:r>
              <a:rPr lang="de-DE" dirty="0" err="1"/>
              <a:t>for</a:t>
            </a:r>
            <a:r>
              <a:rPr lang="de-DE" dirty="0"/>
              <a:t> DACH Region</a:t>
            </a:r>
          </a:p>
          <a:p>
            <a:pPr lvl="1"/>
            <a:r>
              <a:rPr lang="de-DE" dirty="0"/>
              <a:t>Bopp GmbH</a:t>
            </a:r>
          </a:p>
          <a:p>
            <a:pPr lvl="1"/>
            <a:r>
              <a:rPr lang="de-DE" dirty="0" err="1"/>
              <a:t>order</a:t>
            </a:r>
            <a:r>
              <a:rPr lang="de-DE" dirty="0"/>
              <a:t> in </a:t>
            </a:r>
            <a:r>
              <a:rPr lang="de-DE" dirty="0" err="1"/>
              <a:t>place</a:t>
            </a:r>
            <a:r>
              <a:rPr lang="de-DE" dirty="0"/>
              <a:t> (</a:t>
            </a:r>
            <a:r>
              <a:rPr lang="de-DE" dirty="0" err="1"/>
              <a:t>test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3 </a:t>
            </a:r>
            <a:r>
              <a:rPr lang="de-DE" dirty="0" err="1"/>
              <a:t>months</a:t>
            </a:r>
            <a:r>
              <a:rPr lang="de-DE" dirty="0"/>
              <a:t>)</a:t>
            </a:r>
          </a:p>
          <a:p>
            <a:pPr lvl="1"/>
            <a:endParaRPr lang="de-DE" dirty="0"/>
          </a:p>
          <a:p>
            <a:r>
              <a:rPr lang="de-DE" dirty="0"/>
              <a:t>International </a:t>
            </a:r>
            <a:r>
              <a:rPr lang="de-DE" dirty="0" err="1"/>
              <a:t>Activity</a:t>
            </a:r>
            <a:endParaRPr lang="de-DE" dirty="0"/>
          </a:p>
          <a:p>
            <a:pPr lvl="1"/>
            <a:r>
              <a:rPr lang="de-DE" dirty="0"/>
              <a:t>Kendra International Ltd.</a:t>
            </a:r>
          </a:p>
          <a:p>
            <a:pPr lvl="1"/>
            <a:r>
              <a:rPr lang="de-DE" dirty="0" err="1"/>
              <a:t>marketing</a:t>
            </a:r>
            <a:r>
              <a:rPr lang="de-DE" dirty="0"/>
              <a:t>, </a:t>
            </a:r>
            <a:r>
              <a:rPr lang="de-DE" dirty="0" err="1"/>
              <a:t>sales</a:t>
            </a:r>
            <a:r>
              <a:rPr lang="de-DE" dirty="0"/>
              <a:t>, </a:t>
            </a:r>
            <a:r>
              <a:rPr lang="de-DE" dirty="0" err="1"/>
              <a:t>investor</a:t>
            </a:r>
            <a:r>
              <a:rPr lang="de-DE" dirty="0"/>
              <a:t> </a:t>
            </a:r>
            <a:r>
              <a:rPr lang="de-DE" dirty="0" err="1"/>
              <a:t>relations</a:t>
            </a:r>
            <a:r>
              <a:rPr lang="de-DE" dirty="0"/>
              <a:t> </a:t>
            </a:r>
            <a:r>
              <a:rPr lang="de-DE" dirty="0" err="1"/>
              <a:t>planned</a:t>
            </a:r>
            <a:endParaRPr lang="de-DE" dirty="0"/>
          </a:p>
          <a:p>
            <a:pPr lvl="1"/>
            <a:r>
              <a:rPr lang="de-DE" dirty="0"/>
              <a:t>Workshop </a:t>
            </a:r>
            <a:r>
              <a:rPr lang="de-DE" dirty="0" err="1"/>
              <a:t>planned</a:t>
            </a:r>
            <a:r>
              <a:rPr lang="de-DE" dirty="0"/>
              <a:t>: </a:t>
            </a:r>
            <a:r>
              <a:rPr lang="de-DE" strike="sngStrike" dirty="0"/>
              <a:t>07.-08. </a:t>
            </a:r>
            <a:r>
              <a:rPr lang="de-DE" dirty="0"/>
              <a:t>22.-23.01.2026</a:t>
            </a:r>
          </a:p>
          <a:p>
            <a:pPr lvl="1"/>
            <a:endParaRPr lang="de-DE" dirty="0"/>
          </a:p>
          <a:p>
            <a:r>
              <a:rPr lang="de-DE" dirty="0" err="1"/>
              <a:t>Expected</a:t>
            </a:r>
            <a:r>
              <a:rPr lang="de-DE" dirty="0"/>
              <a:t> </a:t>
            </a:r>
            <a:r>
              <a:rPr lang="de-DE" dirty="0" err="1"/>
              <a:t>Results</a:t>
            </a:r>
            <a:endParaRPr lang="de-DE" dirty="0"/>
          </a:p>
          <a:p>
            <a:pPr lvl="1"/>
            <a:r>
              <a:rPr lang="de-DE" dirty="0" err="1"/>
              <a:t>increasing</a:t>
            </a:r>
            <a:r>
              <a:rPr lang="de-DE" dirty="0"/>
              <a:t> </a:t>
            </a:r>
            <a:r>
              <a:rPr lang="de-DE" dirty="0" err="1"/>
              <a:t>number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customers</a:t>
            </a:r>
            <a:endParaRPr lang="de-DE" dirty="0"/>
          </a:p>
          <a:p>
            <a:pPr lvl="1"/>
            <a:r>
              <a:rPr lang="de-DE" dirty="0" err="1"/>
              <a:t>increasing</a:t>
            </a:r>
            <a:r>
              <a:rPr lang="de-DE" dirty="0"/>
              <a:t> </a:t>
            </a:r>
            <a:r>
              <a:rPr lang="de-DE" dirty="0" err="1"/>
              <a:t>number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employees</a:t>
            </a:r>
            <a:endParaRPr lang="de-DE" dirty="0"/>
          </a:p>
          <a:p>
            <a:pPr lvl="1"/>
            <a:r>
              <a:rPr lang="de-DE" dirty="0" err="1"/>
              <a:t>attracting</a:t>
            </a:r>
            <a:r>
              <a:rPr lang="de-DE" dirty="0"/>
              <a:t> </a:t>
            </a:r>
            <a:r>
              <a:rPr lang="de-DE" dirty="0" err="1"/>
              <a:t>investor</a:t>
            </a:r>
            <a:r>
              <a:rPr lang="de-DE" dirty="0"/>
              <a:t> (</a:t>
            </a:r>
            <a:r>
              <a:rPr lang="de-DE" dirty="0" err="1"/>
              <a:t>minority</a:t>
            </a:r>
            <a:r>
              <a:rPr lang="de-DE" dirty="0"/>
              <a:t> shareholding)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further</a:t>
            </a:r>
            <a:r>
              <a:rPr lang="de-DE" dirty="0"/>
              <a:t> </a:t>
            </a:r>
            <a:r>
              <a:rPr lang="de-DE" dirty="0" err="1"/>
              <a:t>growth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14ADB8C-BA48-4861-8F72-A6EC5D4CBF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E11744-D4C9-4EA1-ABB1-E54BA80F88F9}" type="slidenum">
              <a:rPr lang="de-DE" altLang="de-DE" smtClean="0"/>
              <a:pPr/>
              <a:t>14</a:t>
            </a:fld>
            <a:endParaRPr lang="de-DE" alt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BF028C3-17DB-42A6-A066-9F3A90F38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&lt;Name&gt;, FEAAM GmbH, &lt;DATUM&gt;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96527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587508-8F5D-4797-A45B-7F22763A9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But </a:t>
            </a:r>
            <a:r>
              <a:rPr lang="de-DE" dirty="0" err="1"/>
              <a:t>Why</a:t>
            </a:r>
            <a:r>
              <a:rPr lang="de-DE" dirty="0"/>
              <a:t> All This?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D410EB1-EAA9-405E-ACCE-74FD2C978E7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DE" b="1" dirty="0" err="1">
                <a:solidFill>
                  <a:srgbClr val="FF0000"/>
                </a:solidFill>
              </a:rPr>
              <a:t>We</a:t>
            </a:r>
            <a:r>
              <a:rPr lang="de-DE" b="1" dirty="0">
                <a:solidFill>
                  <a:srgbClr val="FF0000"/>
                </a:solidFill>
              </a:rPr>
              <a:t> </a:t>
            </a:r>
            <a:r>
              <a:rPr lang="de-DE" b="1" dirty="0" err="1">
                <a:solidFill>
                  <a:srgbClr val="FF0000"/>
                </a:solidFill>
              </a:rPr>
              <a:t>make</a:t>
            </a:r>
            <a:r>
              <a:rPr lang="de-DE" b="1" dirty="0">
                <a:solidFill>
                  <a:srgbClr val="FF0000"/>
                </a:solidFill>
              </a:rPr>
              <a:t> </a:t>
            </a:r>
            <a:r>
              <a:rPr lang="de-DE" b="1" dirty="0" err="1">
                <a:solidFill>
                  <a:srgbClr val="FF0000"/>
                </a:solidFill>
              </a:rPr>
              <a:t>the</a:t>
            </a:r>
            <a:r>
              <a:rPr lang="de-DE" b="1" dirty="0">
                <a:solidFill>
                  <a:srgbClr val="FF0000"/>
                </a:solidFill>
              </a:rPr>
              <a:t> </a:t>
            </a:r>
            <a:r>
              <a:rPr lang="de-DE" b="1" dirty="0" err="1">
                <a:solidFill>
                  <a:srgbClr val="FF0000"/>
                </a:solidFill>
              </a:rPr>
              <a:t>world</a:t>
            </a:r>
            <a:r>
              <a:rPr lang="de-DE" b="1" dirty="0">
                <a:solidFill>
                  <a:srgbClr val="FF0000"/>
                </a:solidFill>
              </a:rPr>
              <a:t> </a:t>
            </a:r>
            <a:r>
              <a:rPr lang="de-DE" b="1" dirty="0" err="1">
                <a:solidFill>
                  <a:srgbClr val="FF0000"/>
                </a:solidFill>
              </a:rPr>
              <a:t>getting</a:t>
            </a:r>
            <a:r>
              <a:rPr lang="de-DE" b="1" dirty="0">
                <a:solidFill>
                  <a:srgbClr val="FF0000"/>
                </a:solidFill>
              </a:rPr>
              <a:t> </a:t>
            </a:r>
            <a:r>
              <a:rPr lang="de-DE" b="1" dirty="0" err="1">
                <a:solidFill>
                  <a:srgbClr val="FF0000"/>
                </a:solidFill>
              </a:rPr>
              <a:t>better</a:t>
            </a:r>
            <a:endParaRPr lang="de-DE" b="1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increasing</a:t>
            </a:r>
            <a:endParaRPr lang="de-DE" dirty="0"/>
          </a:p>
          <a:p>
            <a:pPr lvl="1"/>
            <a:r>
              <a:rPr lang="de-DE" dirty="0" err="1"/>
              <a:t>energy</a:t>
            </a:r>
            <a:r>
              <a:rPr lang="de-DE" dirty="0"/>
              <a:t> </a:t>
            </a:r>
            <a:r>
              <a:rPr lang="de-DE" dirty="0" err="1"/>
              <a:t>efficiency</a:t>
            </a:r>
            <a:endParaRPr lang="de-DE" dirty="0"/>
          </a:p>
          <a:p>
            <a:pPr lvl="1"/>
            <a:r>
              <a:rPr lang="de-DE" dirty="0" err="1"/>
              <a:t>ressource</a:t>
            </a:r>
            <a:r>
              <a:rPr lang="de-DE" dirty="0"/>
              <a:t> </a:t>
            </a:r>
            <a:r>
              <a:rPr lang="de-DE" dirty="0" err="1"/>
              <a:t>efficiency</a:t>
            </a:r>
            <a:endParaRPr lang="de-DE" dirty="0"/>
          </a:p>
          <a:p>
            <a:pPr lvl="1"/>
            <a:r>
              <a:rPr lang="de-DE" dirty="0"/>
              <a:t>power </a:t>
            </a:r>
            <a:r>
              <a:rPr lang="de-DE" dirty="0" err="1"/>
              <a:t>density</a:t>
            </a:r>
            <a:endParaRPr lang="de-DE" dirty="0"/>
          </a:p>
          <a:p>
            <a:pPr lvl="1"/>
            <a:r>
              <a:rPr lang="de-DE" dirty="0" err="1"/>
              <a:t>cost</a:t>
            </a:r>
            <a:r>
              <a:rPr lang="de-DE" dirty="0"/>
              <a:t> </a:t>
            </a:r>
            <a:r>
              <a:rPr lang="de-DE" dirty="0" err="1"/>
              <a:t>effectiveness</a:t>
            </a:r>
            <a:endParaRPr lang="de-DE" dirty="0"/>
          </a:p>
          <a:p>
            <a:pPr lvl="1"/>
            <a:endParaRPr lang="de-DE" dirty="0"/>
          </a:p>
          <a:p>
            <a:r>
              <a:rPr lang="de-DE" dirty="0"/>
              <a:t>FEAAM </a:t>
            </a:r>
            <a:r>
              <a:rPr lang="de-DE" dirty="0" err="1"/>
              <a:t>becomes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attractive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employees</a:t>
            </a:r>
            <a:endParaRPr lang="de-DE" dirty="0"/>
          </a:p>
          <a:p>
            <a:pPr lvl="1"/>
            <a:r>
              <a:rPr lang="de-DE" dirty="0" err="1"/>
              <a:t>long</a:t>
            </a:r>
            <a:r>
              <a:rPr lang="de-DE" dirty="0"/>
              <a:t>-term </a:t>
            </a:r>
            <a:r>
              <a:rPr lang="de-DE" dirty="0" err="1"/>
              <a:t>company</a:t>
            </a:r>
            <a:r>
              <a:rPr lang="de-DE" dirty="0"/>
              <a:t> </a:t>
            </a:r>
            <a:r>
              <a:rPr lang="de-DE" dirty="0" err="1"/>
              <a:t>stability</a:t>
            </a:r>
            <a:endParaRPr lang="de-DE" dirty="0"/>
          </a:p>
          <a:p>
            <a:pPr lvl="1"/>
            <a:r>
              <a:rPr lang="de-DE" dirty="0" err="1"/>
              <a:t>long</a:t>
            </a:r>
            <a:r>
              <a:rPr lang="de-DE" dirty="0"/>
              <a:t>-term </a:t>
            </a:r>
            <a:r>
              <a:rPr lang="de-DE" dirty="0" err="1"/>
              <a:t>attractive</a:t>
            </a:r>
            <a:r>
              <a:rPr lang="de-DE" dirty="0"/>
              <a:t> </a:t>
            </a:r>
            <a:r>
              <a:rPr lang="de-DE" dirty="0" err="1"/>
              <a:t>salary</a:t>
            </a:r>
            <a:endParaRPr lang="de-DE" dirty="0"/>
          </a:p>
          <a:p>
            <a:pPr lvl="1"/>
            <a:r>
              <a:rPr lang="de-DE" dirty="0" err="1"/>
              <a:t>growing</a:t>
            </a:r>
            <a:r>
              <a:rPr lang="de-DE" dirty="0"/>
              <a:t> </a:t>
            </a:r>
            <a:r>
              <a:rPr lang="de-DE" dirty="0" err="1"/>
              <a:t>company</a:t>
            </a:r>
            <a:r>
              <a:rPr lang="de-DE" dirty="0"/>
              <a:t> </a:t>
            </a:r>
            <a:r>
              <a:rPr lang="de-DE" dirty="0" err="1"/>
              <a:t>means</a:t>
            </a:r>
            <a:r>
              <a:rPr lang="de-DE" dirty="0"/>
              <a:t> </a:t>
            </a:r>
            <a:r>
              <a:rPr lang="de-DE" dirty="0" err="1"/>
              <a:t>growing</a:t>
            </a:r>
            <a:r>
              <a:rPr lang="de-DE" dirty="0"/>
              <a:t> </a:t>
            </a:r>
            <a:r>
              <a:rPr lang="de-DE" dirty="0" err="1"/>
              <a:t>development</a:t>
            </a:r>
            <a:r>
              <a:rPr lang="de-DE" dirty="0"/>
              <a:t> </a:t>
            </a:r>
            <a:r>
              <a:rPr lang="de-DE" dirty="0" err="1"/>
              <a:t>options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employees</a:t>
            </a:r>
            <a:endParaRPr lang="de-DE" dirty="0"/>
          </a:p>
          <a:p>
            <a:pPr lvl="1"/>
            <a:r>
              <a:rPr lang="de-DE" dirty="0" err="1"/>
              <a:t>profit</a:t>
            </a:r>
            <a:r>
              <a:rPr lang="de-DE" dirty="0"/>
              <a:t> </a:t>
            </a:r>
            <a:r>
              <a:rPr lang="de-DE" dirty="0" err="1"/>
              <a:t>participation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employees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planned</a:t>
            </a:r>
            <a:endParaRPr lang="de-DE" dirty="0"/>
          </a:p>
          <a:p>
            <a:pPr lvl="1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14ADB8C-BA48-4861-8F72-A6EC5D4CBF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E11744-D4C9-4EA1-ABB1-E54BA80F88F9}" type="slidenum">
              <a:rPr lang="de-DE" altLang="de-DE" smtClean="0"/>
              <a:pPr/>
              <a:t>15</a:t>
            </a:fld>
            <a:endParaRPr lang="de-DE" alt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BF028C3-17DB-42A6-A066-9F3A90F38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&lt;Name&gt;, FEAAM GmbH, &lt;DATUM&gt;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36942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EAAM-CI Powerpoint Master quer A4 (4zu3)">
  <a:themeElements>
    <a:clrScheme name="Leere Prä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eere Präsentatio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00642D"/>
        </a:solidFill>
        <a:ln w="19050">
          <a:headEnd type="none" w="med" len="med"/>
          <a:tailEnd type="none" w="med" len="med"/>
        </a:ln>
      </a:spPr>
      <a:bodyPr vert="horz" wrap="square" lIns="91440" tIns="45720" rIns="91440" bIns="45720" numCol="1" rtlCol="0" anchor="ctr" anchorCtr="1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124" charset="-128"/>
          </a:defRPr>
        </a:defPPr>
      </a:lstStyle>
      <a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a:style>
    </a:spDef>
    <a:lnDef>
      <a:spPr bwMode="auto">
        <a:ln>
          <a:headEnd type="none" w="med" len="med"/>
          <a:tailEnd type="triangle"/>
        </a:ln>
      </a:spPr>
      <a:bodyPr/>
      <a:lstStyle/>
      <a:style>
        <a:lnRef idx="3">
          <a:schemeClr val="dk1"/>
        </a:lnRef>
        <a:fillRef idx="0">
          <a:schemeClr val="dk1"/>
        </a:fillRef>
        <a:effectRef idx="2">
          <a:schemeClr val="dk1"/>
        </a:effectRef>
        <a:fontRef idx="minor">
          <a:schemeClr val="tx1"/>
        </a:fontRef>
      </a:style>
    </a:lnDef>
  </a:objectDefaults>
  <a:extraClrSchemeLst>
    <a:extraClrScheme>
      <a:clrScheme name="Leere Prä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e Prä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e Prä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e Prä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e Prä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e Prä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FEAAM Powerpoint quer A4 (4zu3)</Template>
  <TotalTime>0</TotalTime>
  <Words>777</Words>
  <Application>Microsoft Office PowerPoint</Application>
  <PresentationFormat>On-screen Show (4:3)</PresentationFormat>
  <Paragraphs>137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FEAAM-CI Powerpoint Master quer A4 (4zu3)</vt:lpstr>
      <vt:lpstr>Future Growth Plan</vt:lpstr>
      <vt:lpstr>Worldwide Electric Motor Market Development</vt:lpstr>
      <vt:lpstr>Applications With High Number of Electric Motors</vt:lpstr>
      <vt:lpstr>Applications With High Number of Electric Motors</vt:lpstr>
      <vt:lpstr>Applications With High Number of Electric Motors</vt:lpstr>
      <vt:lpstr>Applications With High Number of Electric Motors</vt:lpstr>
      <vt:lpstr>Applications With High Number of Electric Motors</vt:lpstr>
      <vt:lpstr>Applications With High Number of Electric Motors</vt:lpstr>
      <vt:lpstr>Applications With High Number of Electric Motors</vt:lpstr>
      <vt:lpstr>Applications With High Number of Electric Motors</vt:lpstr>
      <vt:lpstr>Applications With High Number of Electric Motors</vt:lpstr>
      <vt:lpstr>Summary: Applications / Markets</vt:lpstr>
      <vt:lpstr>FEAAM Vision</vt:lpstr>
      <vt:lpstr>Next Steps</vt:lpstr>
      <vt:lpstr>But Why All This?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FEAAM</dc:creator>
  <cp:lastModifiedBy>Gerling, Dieter</cp:lastModifiedBy>
  <cp:revision>74</cp:revision>
  <dcterms:created xsi:type="dcterms:W3CDTF">2025-05-21T12:25:20Z</dcterms:created>
  <dcterms:modified xsi:type="dcterms:W3CDTF">2026-06-02T12:28:04Z</dcterms:modified>
</cp:coreProperties>
</file>