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290</c:v>
                </c:pt>
                <c:pt idx="1">
                  <c:v>307</c:v>
                </c:pt>
                <c:pt idx="2">
                  <c:v>325</c:v>
                </c:pt>
                <c:pt idx="3">
                  <c:v>344</c:v>
                </c:pt>
                <c:pt idx="4">
                  <c:v>364</c:v>
                </c:pt>
                <c:pt idx="5">
                  <c:v>385</c:v>
                </c:pt>
                <c:pt idx="6">
                  <c:v>408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D2-4938-B604-EB20215A2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208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Drives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85800" y="3566160"/>
            <a:ext cx="1828800" cy="36576"/>
          </a:xfrm>
          <a:prstGeom prst="rect">
            <a:avLst/>
          </a:prstGeom>
          <a:solidFill>
            <a:srgbClr val="E89B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for IE5 efficiency compliance, refrigerant-transition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readiness, and rare-earth de-risking across compressor and fan drives.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50749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542239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3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3B72E19A-D098-7C87-5C66-37C7B9253CDE}"/>
              </a:ext>
            </a:extLst>
          </p:cNvPr>
          <p:cNvSpPr/>
          <p:nvPr/>
        </p:nvSpPr>
        <p:spPr>
          <a:xfrm>
            <a:off x="0" y="6355080"/>
            <a:ext cx="276225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E64E205C-57A5-2DB6-5988-205E1BAB8563}"/>
              </a:ext>
            </a:extLst>
          </p:cNvPr>
          <p:cNvSpPr/>
          <p:nvPr/>
        </p:nvSpPr>
        <p:spPr>
          <a:xfrm flipH="1">
            <a:off x="7772400" y="6583680"/>
            <a:ext cx="441960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HVAC Systems Market: Scale, Efficiency Regulation, and Motor Density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Substantial, regulation-driven growth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Global HVAC systems market projected from USD 290B (2024) to USD 408B (2030), </a:t>
            </a: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CAGR</a:t>
            </a: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HVAC equipment represents the largest end-use share of the global electric motor market.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Multi-motor architecture per system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5661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HVAC unit integrates several motors: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38862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motors (scroll, rotary, screw, or centrifugal)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evaporator and condenser fan motors (1 to 4 per unit)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circulation pumps for hydronic and heat-pump systems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damper and valve actuators in commercial and VRF systems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OEM landscape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54864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Daikin, Carrier, Trane Technologies, Johnson Controls, Mitsubishi Electric, LG, Samsung, Midea, Gree, Bosch Home Comfort, Lennox, Panasonic. Asia-Pacific is the fastest-growing region.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55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HVAC Systems Market, Value (USD Billion)</a:t>
            </a:r>
            <a:endParaRPr lang="en-US" sz="135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55080" y="2103120"/>
          <a:ext cx="5440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355080" y="5897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MarketsandMarkets, HVAC System Market (2024-2030). Values in USD Billion. 6.4% CAGR.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360FE868-96BD-78FA-9273-EB2B56D33793}"/>
              </a:ext>
            </a:extLst>
          </p:cNvPr>
          <p:cNvSpPr/>
          <p:nvPr/>
        </p:nvSpPr>
        <p:spPr>
          <a:xfrm>
            <a:off x="0" y="6355080"/>
            <a:ext cx="276225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F9476B7-598A-088E-BE17-9401FB5A228B}"/>
              </a:ext>
            </a:extLst>
          </p:cNvPr>
          <p:cNvSpPr/>
          <p:nvPr/>
        </p:nvSpPr>
        <p:spPr>
          <a:xfrm flipH="1">
            <a:off x="7772400" y="6583680"/>
            <a:ext cx="441960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the HVAC Drive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Efficiency Regulation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3657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Ecodesign IE5 (Premium) is the default benchmark for new HVAC motor designs; further tightening expected by 2027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DOE minimum efficiency standards continue to ratchet upward for residential and commercial HVAC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SEER and SCOP ratings drive product positioning and tax-credit eligibility in major markets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Sub-1% efficiency misses disqualify products from utility rebate programs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519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Refrigerant Transition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519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F-gas phase-down and global HFC reductions drive a shift to R-290, R-32, R-454B, and CO2 systems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refrigerants demand redesigned compressor envelopes, often with higher operating pressures and revised speed ranges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Heat-pump retrofits add reverse-cycle operation and wider operating envelopes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Variable-speed and inverter-driven compressors now dominate new-build OEM platforms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Rare-Earth Exposure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381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High-efficiency PMSM compressor and fan motors are increasingly Nd-Fe-B-based; HVAC is one of the largest non-EV magnet consumers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 and export-control shifts hit Asia-Pacific OEMs already operating on thin appliance margins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need a rare-earth-free pathway that does not compromise IE5 efficiency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HVAC-OEM squeeze: tightening efficiency mandates, new refrigerant envelopes, and constrained magnet supply, all at once.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043F62A7-22A9-D141-8271-2ACFF0091E8B}"/>
              </a:ext>
            </a:extLst>
          </p:cNvPr>
          <p:cNvSpPr/>
          <p:nvPr/>
        </p:nvSpPr>
        <p:spPr>
          <a:xfrm>
            <a:off x="0" y="6355080"/>
            <a:ext cx="276225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00C0CA77-3FE8-9B39-ED09-BB09891C4034}"/>
              </a:ext>
            </a:extLst>
          </p:cNvPr>
          <p:cNvSpPr/>
          <p:nvPr/>
        </p:nvSpPr>
        <p:spPr>
          <a:xfrm flipH="1">
            <a:off x="7772400" y="6583680"/>
            <a:ext cx="441960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 for HVAC OEMs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worldwide across topology, control, and AI estimation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348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4348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 global Elsevier scientist rankings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R&amp;D, spin-off of Bundeswehr University Munich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Technology 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integrates proven FEAAM IP into existing HVAC compressor or fan motor platforms.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to design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Joint Development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designs a bespoke, validated motor for a specific compressor envelope, refrigerant, and efficiency target.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18 months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210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Sample / Pilot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FEAAM technology on a representative HVAC unit or testbench before full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0450F2F4-383A-4E75-43C9-10426AA76D71}"/>
              </a:ext>
            </a:extLst>
          </p:cNvPr>
          <p:cNvSpPr/>
          <p:nvPr/>
        </p:nvSpPr>
        <p:spPr>
          <a:xfrm>
            <a:off x="0" y="6355080"/>
            <a:ext cx="276225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BE2EA8F2-9B77-0251-8AA5-90885294B423}"/>
              </a:ext>
            </a:extLst>
          </p:cNvPr>
          <p:cNvSpPr/>
          <p:nvPr/>
        </p:nvSpPr>
        <p:spPr>
          <a:xfrm flipH="1">
            <a:off x="7772400" y="6583680"/>
            <a:ext cx="441960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FEAAM for HVAC Drives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82880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IE5 Efficiency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9659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and Thermal Optimization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FEAAM research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reductions in parasitic harmonics improve efficiency across the partial-load operating points that dominate HVAC duty. HVAC motors run 24/7 in commercial buildings, so even fractional-percent efficiency gains compound substantially across the fleet.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7296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17296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Wide-Envelope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Speed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3101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FSCW + Flux-Barrier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geometry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31012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Fractional-slot concentrated winding and flux-barrier topology support the wide speed range required for inverter-driven compressors and ECM fans across heat-pump reverse-cycle and modulating-load operation.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1713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6542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6542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65429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design removes Nd-Fe-B dependency entirely while preserving PM-class power density and high zero-speed torque. Strategic option for OEMs facing rare-earth exposure on high-volume compressor and ECM-fan platforms.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897880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89788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electromagnetic competencies: efficiency and thermal optimization, FSCW optimization, flux-barrier topology, and integrated cooling.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BB797675-D376-DD9E-D37B-E8F30A7CA071}"/>
              </a:ext>
            </a:extLst>
          </p:cNvPr>
          <p:cNvSpPr/>
          <p:nvPr/>
        </p:nvSpPr>
        <p:spPr>
          <a:xfrm>
            <a:off x="0" y="6355080"/>
            <a:ext cx="276225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B88E0EBA-E7DE-55DE-8077-1A7A44DD1EA0}"/>
              </a:ext>
            </a:extLst>
          </p:cNvPr>
          <p:cNvSpPr/>
          <p:nvPr/>
        </p:nvSpPr>
        <p:spPr>
          <a:xfrm flipH="1">
            <a:off x="7772400" y="6583680"/>
            <a:ext cx="441960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Technology Mapped to the HVAC Drive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82880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96596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Compressor Motor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(scroll, rotary, screw)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26080" y="19659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Flux-Barrier Stator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9659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flux-barrier topologies have shown significant reductions in parasitic harmonics and measurable torque-density improvements in selected machine configurations, suitable for high-efficiency variable-speed compressors meeting IE5 and tightening seasonal-efficiency standards.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17296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17296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31012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Rare-Earth-Free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26080" y="331012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31012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rare-earth content. Full decoupling from the Nd-Fe-B supply chain, with PM-class power density and high zero-speed torque. Strategic option for OEMs hedging magnet supply risk on million-unit annual compressor and fan-motor platforms.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1713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51713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65429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 Fans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Motors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926080" y="465429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Flux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65429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Disc-form axial flux topology delivers high torque density in a compact axial footprint, well-suited to evaporator and condenser ECM fans, circulation pumps, and damper actuators where unit depth and acoustic characteristics are a product positioning consideration.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650992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650992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IP portfolio addresses every motor in the system, from variable-speed compressors down to ECM fans and actuators.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468880" y="62362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6" name="Shape 18">
            <a:extLst>
              <a:ext uri="{FF2B5EF4-FFF2-40B4-BE49-F238E27FC236}">
                <a16:creationId xmlns:a16="http://schemas.microsoft.com/office/drawing/2014/main" id="{EB5444F7-E7A6-545C-35D7-5AF304C0129D}"/>
              </a:ext>
            </a:extLst>
          </p:cNvPr>
          <p:cNvSpPr/>
          <p:nvPr/>
        </p:nvSpPr>
        <p:spPr>
          <a:xfrm>
            <a:off x="0" y="6355080"/>
            <a:ext cx="276225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281BF0A4-C66B-BF1B-F301-8A838F310573}"/>
              </a:ext>
            </a:extLst>
          </p:cNvPr>
          <p:cNvSpPr/>
          <p:nvPr/>
        </p:nvSpPr>
        <p:spPr>
          <a:xfrm flipH="1">
            <a:off x="7772400" y="6583680"/>
            <a:ext cx="441960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884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HVAC Drives</dc:title>
  <dc:subject>PptxGenJS Presentation</dc:subject>
  <dc:creator>FEAAM GmbH</dc:creator>
  <cp:lastModifiedBy>Ishita Bhatt</cp:lastModifiedBy>
  <cp:revision>2</cp:revision>
  <dcterms:created xsi:type="dcterms:W3CDTF">2026-05-22T09:24:50Z</dcterms:created>
  <dcterms:modified xsi:type="dcterms:W3CDTF">2026-05-22T09:34:25Z</dcterms:modified>
</cp:coreProperties>
</file>