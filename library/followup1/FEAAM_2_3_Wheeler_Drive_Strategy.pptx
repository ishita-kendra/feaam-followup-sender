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2-Wheelers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10.6</c:v>
                </c:pt>
                <c:pt idx="1">
                  <c:v>12.2</c:v>
                </c:pt>
                <c:pt idx="2">
                  <c:v>13.9</c:v>
                </c:pt>
                <c:pt idx="3">
                  <c:v>16</c:v>
                </c:pt>
                <c:pt idx="4">
                  <c:v>18.3</c:v>
                </c:pt>
                <c:pt idx="5">
                  <c:v>21</c:v>
                </c:pt>
                <c:pt idx="6">
                  <c:v>24</c:v>
                </c:pt>
                <c:pt idx="7">
                  <c:v>27.6</c:v>
                </c:pt>
                <c:pt idx="8">
                  <c:v>31.6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0-4842-A047-E76027A099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3-Wheelers</c:v>
                </c:pt>
              </c:strCache>
            </c:strRef>
          </c:tx>
          <c:spPr>
            <a:solidFill>
              <a:srgbClr val="E89B2C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1.5</c:v>
                </c:pt>
                <c:pt idx="1">
                  <c:v>1.7</c:v>
                </c:pt>
                <c:pt idx="2">
                  <c:v>1.9</c:v>
                </c:pt>
                <c:pt idx="3">
                  <c:v>2.1</c:v>
                </c:pt>
                <c:pt idx="4">
                  <c:v>2.4</c:v>
                </c:pt>
                <c:pt idx="5">
                  <c:v>2.7</c:v>
                </c:pt>
                <c:pt idx="6">
                  <c:v>3</c:v>
                </c:pt>
                <c:pt idx="7">
                  <c:v>3.4</c:v>
                </c:pt>
                <c:pt idx="8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E0-4842-A047-E76027A09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39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 Electric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3-Wheeler Drives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685800" y="3566160"/>
            <a:ext cx="1828800" cy="36576"/>
          </a:xfrm>
          <a:prstGeom prst="rect">
            <a:avLst/>
          </a:prstGeom>
          <a:solidFill>
            <a:srgbClr val="E89B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for BOM cost efficiency, range extension,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rare-earth de-risking for Asia-Pacific mobility OEMs.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5285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3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D4B86CDC-5B32-D756-5144-F3816A3EDB2C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0E68DD7C-065A-00E0-8CD3-4286DB476828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3-Wheeler EV Market: Scale, Cost Pressure, and Motor Density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sustained growth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2-Wheeler powertrain market: </a:t>
            </a: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10.6B (2024) to USD 31.6B (2032), 14.8% CAGR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3-Wheeler powertrain market: </a:t>
            </a: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1.5B to USD 3.8B, 12.8% CAGR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architecture per vehicle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weight-constrained drivetrains: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2-wheelers: 1 traction motor, typically hub or mid-drive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3-wheelers: 1 to 2 traction motors plus auxiliaries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3-wheelers add cooling-pump and EPS actuator motors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OEM landscape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Powertrain suppliers: Bosch Mobility, Yamaha, MAHLE, Valeo, BYD, Delta Electronics, Fukuta. OEMs: Hero MotoCorp, Ola Electric, TVS, Bajaj, Ather, Altigreen, E-trio. Asia-Pacific holds 99.7% of 2-wheeler powertrain share.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55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2W + 3W Powertrain Market, Value (USD Billion)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55080" y="2103120"/>
          <a:ext cx="5440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355080" y="5897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Fortune Business Insights, Electric 2- and 3-Wheeler Powertrain Markets (2024-2032). Values in USD Billion.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50AE488-8978-260D-15C5-782A50E9107E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555A7C9-3799-CE84-8F79-725E6A665054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the 2 and 3-Wheeler Drive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BOM Cost &amp; Range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3657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2-wheelers and 3-wheelers are among the most price-sensitive EVs sold; sticker prices in core markets often below USD 1,500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is the dominant BOM line item; every percent of motor efficiency directly extends range or shrinks battery cost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 drives purchase decisions, especially for last-mile delivery and gig-economy fleets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Manufacturable, low-cost stator concepts are as important as peak performance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519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Rare-Earth Exposure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519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holds ~99.7% of the 2-wheeler powertrain market, with deep exposure to Chinese magnet supply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and export-control shifts hit Indian and SEA OEMs hardest, with no domestic Nd-Fe-B alternative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price volatility directly compresses already-thin EV-mobility margins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Compact, Urban Duty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381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Hub-motor and mid-drive packaging is volume-constrained; torque density per liter sets the design envelope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Stop-start urban duty cycles drive heavy thermal cycling and frequent partial-load operation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3-wheeler commercial duty (cargo, taxi) demands continuous-duty robustness over 8 to 12 hour shifts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Hot-climate operation in core markets adds a thermal-derating risk that magnet-based designs amplify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mobility-OEM squeeze: lowest BOM cost, longest range per Wh, on a de-risked Asia-Pacific supply chain.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7D567AB-5F0F-03E6-BFB9-1759761E88C7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64230719-F849-AA16-8683-61EEEF65ED65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 for 2 and 3-Wheeler OEMs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worldwide across topology, control, and AI estimation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348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4348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 global Elsevier scientist rankings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R&amp;D, spin-off of Bundeswehr University Munich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Technology 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integrates proven FEAAM IP into existing 2- or 3-wheeler traction motor platforms.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to design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Joint Development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designs a bespoke, validated motor for a specific vehicle class, market, and duty profile.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18 months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210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Sample / Pilot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FEAAM technology on a representative vehicle or testbench before full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46888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A4784A79-DBF6-0B0B-2C96-51B32C3FAA84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722116E5-0C69-B91C-9467-768EA20B2A52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FEAAM for 2 and 3-Wheeler Drives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82880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Manufacturable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Volume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9659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FSCW + Flux-Barrier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Fractional-slot concentrated winding simplifies stator manufacturing and shortens end windings. The flux-barrier topology supports scalable assembly on conventional production lines, important for OEMs targeting million-unit annual volumes at constrained BOM.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7296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17296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 of Battery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3101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and Loss Reduction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FEAAM research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31012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reductions in parasitic harmonics improve efficiency across the partial-load operating points that dominate urban duty cycles, supporting longer range per Wh of battery, or smaller battery for the same range.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1713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6542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6542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65429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design removes Nd-Fe-B dependency entirely, with PM-class power density and high zero-speed torque. Strategic option for Asia-Pacific OEMs facing direct exposure to Chinese magnet supply and tariff shifts.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897880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89788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electromagnetic competencies: efficiency and loss reduction, FSCW optimization, flux-barrier topology, and integrated cooling.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DB0FDF58-53A5-9F79-B946-4AD8E1188C0D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31BA399B-F502-6663-21F7-2EA5AF678ACF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Technology Mapped to the 2 and 3-Wheeler Drive 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82880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Traction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(2W hub / mid-drive)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26080" y="19659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Flux-Barrier Stator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flux-barrier topologies have shown significant reductions in parasitic harmonics and measurable torque-density improvements in selected machine configurations, suitable for high-volume 2-wheeler hub-motor and mid-drive traction platforms.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7296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17296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Rare-Earth-Free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26080" y="33101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31012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rare-earth content. Full decoupling from the Nd-Fe-B supply chain, with PM-class power density and high zero-speed torque. Strategic option for OEMs targeting premium-range positioning or insulating against Asia-Pacific magnet supply risk.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1713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6542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3-Wheeler Aux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EPS Motors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926080" y="46542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Flux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65429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Disc-form axial flux topology delivers high torque density in a compact axial footprint, well-suited to space-constrained electric power steering, cooling-pump, and cargo-handling auxiliary positions on 3-wheeler platforms.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650992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650992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IP portfolio addresses every motor on the vehicle, from main traction down to auxiliary and EPS actuators.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46888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C4A48DB3-CDB6-0CEE-EEB9-D3B5E6B2D7A4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22EF6230-0E40-E01F-0171-19383A68C49B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916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Electric 2 and 3-Wheeler Drives</dc:title>
  <dc:subject>PptxGenJS Presentation</dc:subject>
  <dc:creator>FEAAM GmbH</dc:creator>
  <cp:lastModifiedBy>Ishita Bhatt</cp:lastModifiedBy>
  <cp:revision>2</cp:revision>
  <dcterms:created xsi:type="dcterms:W3CDTF">2026-05-22T07:53:04Z</dcterms:created>
  <dcterms:modified xsi:type="dcterms:W3CDTF">2026-05-22T08:10:26Z</dcterms:modified>
</cp:coreProperties>
</file>