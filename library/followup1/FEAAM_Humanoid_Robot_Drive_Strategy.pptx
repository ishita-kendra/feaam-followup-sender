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1.9</c:v>
                </c:pt>
                <c:pt idx="1">
                  <c:v>2.9</c:v>
                </c:pt>
                <c:pt idx="2">
                  <c:v>4.3</c:v>
                </c:pt>
                <c:pt idx="3">
                  <c:v>6.4</c:v>
                </c:pt>
                <c:pt idx="4">
                  <c:v>9.5</c:v>
                </c:pt>
                <c:pt idx="5">
                  <c:v>14.2</c:v>
                </c:pt>
                <c:pt idx="6">
                  <c:v>21.1</c:v>
                </c:pt>
                <c:pt idx="7">
                  <c:v>31.4</c:v>
                </c:pt>
                <c:pt idx="8">
                  <c:v>46.9</c:v>
                </c:pt>
                <c:pt idx="9">
                  <c:v>69.8</c:v>
                </c:pt>
                <c:pt idx="10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0C-4375-B810-8D06471D1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94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Robot Drives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85800" y="356616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actuator specific torque, rare-earth scale risk,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joint-level reliability across 20 to 100 motors per platform.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422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3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02150799-7DD3-46DE-9B55-D41FCFE8EBF3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9DDCAB75-06AD-38DE-F5D3-A4906A5E6B2A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Robot Market: Scale, Motor Count, and Actuator Density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humanoid robot market projected from USD 1.9B (2025) to USD 104B (2035), </a:t>
            </a: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CAGR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Among the steepest growth curves in any motor-enabled market.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count per platform is the multiplier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humanoid robot integrates many actuators: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40 motors for basic locomotion and manipulation platforms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motors for full-dexterity platforms with detailed hand articulation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shipped robot represents a fleet-scale motor opportunity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(Optimus), Figure AI, Boston Dynamics, Agility Robotics, Apptronik, 1X, Sanctuary AI, Unitree, Fourier Intelligence, Xiaomi, UBTech. Bank of America projects 1 billion humanoid units by 2050.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Humanoid Robot Market, Value (USD Billion)</a:t>
            </a:r>
            <a:endParaRPr lang="en-US" sz="13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Roots Analysis, Humanoid Robot Market (2025-2035). Values in USD Billion. 47% CAGR.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080A3BF-EE8C-9EAD-59AD-DBF36A9B3FB6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7F0F896-5D49-EA18-C7C3-2781F2CA1407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Humanoid Actuator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Specific Torque per Joint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joint is weight-sensitive: a motor at the wrist costs payload at every joint below it on the kinematic chain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density per liter and per kg sets the entire robot's strength-to-weight ratio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joints (hands, wrists) demand the highest torque-to-volume ratios of any electric drive application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electromagnetic topology directly enables more dexterous, higher-payload platforms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Rare-Earth Scale Risk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100 motors per robot, multiplied by millions of units, would consume a meaningful share of global Nd-Fe-B supply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scale-up is one of the largest forecast additions to magnet demand, on top of EV and wind buildout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and dual-use programs require rare-earth-free pathways from the outset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Joint Reliability at Fleet Scale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with 40 joints fails if any one joint fails: per-actuator MTBF must exceed traditional industrial-motor norms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Stop-start dynamic duty under balance control produces continuous thermal and mechanical cycling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Brushless, slip-ring-free designs remove a class of wear failures from every joint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Low-noise operation is a relevant consideration for home, healthcare, and office deployment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humanoid-OEM squeeze: maximum torque density per joint, multiplied by 20 to 100 motors per robot, multiplied by fleet scale.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7B54F06F-3DD7-1FDB-01EA-B80FCE4A7878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8FF47913-DE2A-DD34-240D-346E40F52673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Humanoid Robot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humanoid actuator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actuator family for a specific robot kinematic chain.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18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joint or limb assembly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81E55E8D-0C6D-71B1-FF46-48A35A1C472E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3EA9E3CF-014F-89E0-D216-3A6E1B55DC9E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Humanoid Robot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Torque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Joint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actuator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actuators are weight-constrained at every joint on the kinematic chain. FEAAM's fractional-slot concentrated winding shortens end windings, and the flux-barrier topology supports the torque-per-volume ratios required for hip, knee, shoulder, and elbow actuators.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Torque,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Operation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Reduction &amp; Torque Smoothness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reductions in parasitic harmonics translate to smoother torque output, important for balance control and fine manipulation. Reduced harmonic content may also contribute to lower acoustic emission — relevant for home, healthcare, and customer-facing deployments, subject to system-level validation.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Rare-Earth-Free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design removes Nd-Fe-B dependency entirely while preserving PM-class power density and high zero-speed torque. Strategic option for OEMs scaling humanoid production to volumes where rare-earth supply becomes a board-level concern.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loss reduction,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2054CD17-83B8-FE9E-AF4F-791A7F018449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A6EDDE0B-3152-41F5-8DA0-32BEB13385E6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Humanoid Joint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Load-Bearing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(hip, knee, shoulder)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the high-torque load-bearing joints that dominate humanoid power and weight budgets.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Rare-Earth-Free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Family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chain, with PM-class power density and high zero-speed torque. Strategic option for OEMs scaling fleet volumes where per-robot magnet content becomes a meaningful supply-chain exposure.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Joints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(wrist, hand, finger)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very compact axial footprint, well-suited to weight-critical distal joints where every gram costs payload at every joint above it. Robust construction supports continuous dexterous manipulation duty.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actuator in the robot, from major load-bearing joints down to dexterous hand and finger motors.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46888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B15D9DF3-161F-380C-84F8-B728BD1333C6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00321960-C8E8-6BF0-BB2E-0C6E065D4497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932</Words>
  <Application>Microsoft Office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Humanoid Robot Drives</dc:title>
  <dc:subject>PptxGenJS Presentation</dc:subject>
  <dc:creator>FEAAM GmbH</dc:creator>
  <cp:lastModifiedBy>Ishita Bhatt</cp:lastModifiedBy>
  <cp:revision>2</cp:revision>
  <dcterms:created xsi:type="dcterms:W3CDTF">2026-05-22T08:17:47Z</dcterms:created>
  <dcterms:modified xsi:type="dcterms:W3CDTF">2026-05-22T09:21:55Z</dcterms:modified>
</cp:coreProperties>
</file>