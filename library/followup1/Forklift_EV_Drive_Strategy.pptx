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1" r:id="rId6"/>
    <p:sldId id="259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08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9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 Billion</c:v>
                </c:pt>
              </c:strCache>
            </c:strRef>
          </c:tx>
          <c:spPr>
            <a:solidFill>
              <a:srgbClr val="1F5878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  <c:pt idx="9">
                  <c:v>2034</c:v>
                </c:pt>
                <c:pt idx="10">
                  <c:v>2035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57</c:v>
                </c:pt>
                <c:pt idx="1">
                  <c:v>65.59</c:v>
                </c:pt>
                <c:pt idx="2">
                  <c:v>74.52</c:v>
                </c:pt>
                <c:pt idx="3">
                  <c:v>85.39</c:v>
                </c:pt>
                <c:pt idx="4">
                  <c:v>97.92</c:v>
                </c:pt>
                <c:pt idx="5">
                  <c:v>113.21</c:v>
                </c:pt>
                <c:pt idx="6">
                  <c:v>130.94</c:v>
                </c:pt>
                <c:pt idx="7">
                  <c:v>151.52000000000001</c:v>
                </c:pt>
                <c:pt idx="8">
                  <c:v>174.46</c:v>
                </c:pt>
                <c:pt idx="9">
                  <c:v>203.9</c:v>
                </c:pt>
                <c:pt idx="10">
                  <c:v>263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9C-4DB5-8EE1-E9686368BF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4085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orklift_deck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Future-Proofing Electric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Forklift Drives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31520" y="3703320"/>
            <a:ext cx="3840480" cy="36576"/>
          </a:xfrm>
          <a:prstGeom prst="rect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IP for IE5 compliance, rare-earth de-risking,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resilient OEM product roadmaps.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0720" y="50749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FEAAM GmbH, Research Center for Electrical Drives and Actuators Munich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5852160"/>
            <a:ext cx="6400800" cy="100584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 flipH="1">
            <a:off x="6858000" y="6492240"/>
            <a:ext cx="5303520" cy="36576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26">
            <a:extLst>
              <a:ext uri="{FF2B5EF4-FFF2-40B4-BE49-F238E27FC236}">
                <a16:creationId xmlns:a16="http://schemas.microsoft.com/office/drawing/2014/main" id="{3FFC7400-9786-712A-2F40-B655BFEFD33F}"/>
              </a:ext>
            </a:extLst>
          </p:cNvPr>
          <p:cNvSpPr/>
          <p:nvPr/>
        </p:nvSpPr>
        <p:spPr>
          <a:xfrm>
            <a:off x="680720" y="5486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info@feaam.de   |   https://feaam.de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orklift_deck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9601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Forklift Market: Scale, Speed, and Motor Density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1691640"/>
            <a:ext cx="60350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F5878"/>
                </a:solidFill>
              </a:rPr>
              <a:t>Strong, sustained growth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 xml:space="preserve">Global electric lift-truck market projected from ~USD 57B (2025) to USD 263B (2035), </a:t>
            </a:r>
            <a:r>
              <a:rPr lang="en-US" sz="1400" b="1" dirty="0">
                <a:solidFill>
                  <a:srgbClr val="C00000"/>
                </a:solidFill>
              </a:rPr>
              <a:t>14.6% CAGR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 xml:space="preserve"> 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F5878"/>
                </a:solidFill>
              </a:rPr>
              <a:t>Multi-motor architecture per truck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00000"/>
                </a:solidFill>
              </a:rPr>
              <a:t>3–5 motors per modern Class I/II/III truck:</a:t>
            </a:r>
            <a:endParaRPr lang="en-US" sz="16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traction (1–2)</a:t>
            </a:r>
            <a:endParaRPr lang="en-US" sz="16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hydraulic / hoist pump (1)</a:t>
            </a:r>
            <a:endParaRPr lang="en-US" sz="16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power steering (1)</a:t>
            </a:r>
            <a:endParaRPr lang="en-US" sz="1600" dirty="0"/>
          </a:p>
          <a:p>
            <a:pPr marL="685800" lvl="1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auxiliary / cooling (0–1)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 xml:space="preserve"> 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F5878"/>
                </a:solidFill>
              </a:rPr>
              <a:t>Concentrated OEM landscape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</a:rPr>
              <a:t>Toyota Industries, KION (Linde/Still), Jungheinrich, Mitsubishi Logisnext, Hyster-Yale, Crown, Anhui Heli, Hangcha. Top 10 OEMs hold the majority share.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76656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Electric Lift-Truck Market, Value (USD Billion)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766560" y="2057400"/>
          <a:ext cx="51206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6766560" y="5532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595959"/>
                </a:solidFill>
              </a:rPr>
              <a:t>Source: Future Market Insights (Electric Lift Truck Market, 2025-2035). Values in USD Billion.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0" y="6355080"/>
            <a:ext cx="2743200" cy="50292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5"/>
          <p:cNvSpPr/>
          <p:nvPr/>
        </p:nvSpPr>
        <p:spPr>
          <a:xfrm flipH="1">
            <a:off x="7772400" y="6583680"/>
            <a:ext cx="4389120" cy="27432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58521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692640" y="5989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orklift_deck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9601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Forces Converging on the Forklift Drive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1915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Rare-Earth Supply Risk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48640" y="2418080"/>
            <a:ext cx="1280160" cy="2743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548640" y="2621280"/>
            <a:ext cx="3657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~60% of global rare-earth mining and &gt;90% of processing concentrated in China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&gt;3x neodymium price increase between 2020–2022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Compounding export-control and tariff exposure on Nd-Fe-B magnets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margin and BOM impact on every traction motor shipped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297680" y="1915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Regulatory &amp; Efficiency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297680" y="2418080"/>
            <a:ext cx="1280160" cy="2743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4297680" y="2621280"/>
            <a:ext cx="3657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Ecodesign IE5 (Premium) is now the default benchmark for new motor designs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CSRD forces lifecycle and emissions reporting on motor BOMs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1–3% efficiency miss can disqualify a platform from public-tender lists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Long-life lift motors run 24/7; efficiency compounds across the fleet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0" y="1915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Volume &amp; Procurement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046720" y="2418080"/>
            <a:ext cx="1280160" cy="2743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8046720" y="2621280"/>
            <a:ext cx="3657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Forklifts: 3–5 motors per truck across traction, hoist, steering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AMR / ASRS fleets in the same warehouse: thousands of motors per site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Multi-thousand-unit annual procurement amplifies supplier risk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Single-source rare-earth exposure becomes a board-level issue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5440680"/>
            <a:ext cx="11064240" cy="411480"/>
          </a:xfrm>
          <a:prstGeom prst="rect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548640" y="54406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OEM squeeze: simultaneous pressure on margin, supply, and compliance, at scaling volume.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0" y="6355080"/>
            <a:ext cx="2743200" cy="50292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 flipH="1">
            <a:off x="7772400" y="6583680"/>
            <a:ext cx="4389120" cy="27432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58521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692640" y="5989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orklift_deck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3880" y="1082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Models for Forklift OEMs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1935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2575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Patents worldwide across topology, control, and AI estimation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297680" y="1935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2%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297680" y="2575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 in global Elsevier scientist rankings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46720" y="19354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2006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8046720" y="2575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R&amp;D, spin-off of Bundeswehr University Munich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393440"/>
            <a:ext cx="3566160" cy="411480"/>
          </a:xfrm>
          <a:prstGeom prst="rect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48640" y="3393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1: Technology License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804920"/>
            <a:ext cx="3566160" cy="1783080"/>
          </a:xfrm>
          <a:prstGeom prst="rect">
            <a:avLst/>
          </a:prstGeom>
          <a:solidFill>
            <a:srgbClr val="F5F8FA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731520" y="38963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integrates proven FEAAM IP into existing forklift platforms.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" y="5085080"/>
            <a:ext cx="3200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731520" y="508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3–6 months to design files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297680" y="3393440"/>
            <a:ext cx="3566160" cy="411480"/>
          </a:xfrm>
          <a:prstGeom prst="rect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4297680" y="3393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2: Joint Development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297680" y="3804920"/>
            <a:ext cx="3566160" cy="1783080"/>
          </a:xfrm>
          <a:prstGeom prst="rect">
            <a:avLst/>
          </a:prstGeom>
          <a:solidFill>
            <a:srgbClr val="F5F8FA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4480560" y="38963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FEAAM designs a bespoke, validated motor for a specific new truck class.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480560" y="5085080"/>
            <a:ext cx="3200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4480560" y="508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9–18 months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046720" y="3393440"/>
            <a:ext cx="3566160" cy="411480"/>
          </a:xfrm>
          <a:prstGeom prst="rect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8046720" y="33934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3: Sample / Pilot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046720" y="3804920"/>
            <a:ext cx="3566160" cy="1783080"/>
          </a:xfrm>
          <a:prstGeom prst="rect">
            <a:avLst/>
          </a:prstGeom>
          <a:solidFill>
            <a:srgbClr val="F5F8FA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8229600" y="38963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FEAAM technology on a representative OEM use-case before full commitment.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229600" y="5085080"/>
            <a:ext cx="3200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8229600" y="508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3–6 months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0" y="6355080"/>
            <a:ext cx="2743200" cy="50292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8"/>
          <p:cNvSpPr/>
          <p:nvPr/>
        </p:nvSpPr>
        <p:spPr>
          <a:xfrm flipH="1">
            <a:off x="7772400" y="6583680"/>
            <a:ext cx="4389120" cy="27432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58521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692640" y="5989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orklift_deck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9601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FEAAM for Forklift Drives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783080"/>
            <a:ext cx="11064240" cy="1005840"/>
          </a:xfrm>
          <a:prstGeom prst="rect">
            <a:avLst/>
          </a:prstGeom>
          <a:solidFill>
            <a:srgbClr val="F5F8FA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91440" cy="10058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777240" y="1828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Duty-Cycle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017520" y="18288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Low-Speed Torque &amp; Cycling</a:t>
            </a:r>
            <a:endParaRPr lang="en-US" sz="14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Forklift-relevant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577840" y="18288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low-speed, high-torque operation under continuous duty cycles. Validated tolerance for the thermal cycling typical of multi-shift warehouse operation, with no efficiency cliff at part-load.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926080"/>
            <a:ext cx="11064240" cy="1005840"/>
          </a:xfrm>
          <a:prstGeom prst="rect">
            <a:avLst/>
          </a:prstGeom>
          <a:solidFill>
            <a:srgbClr val="F5F8FA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548640" y="2926080"/>
            <a:ext cx="91440" cy="10058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777240" y="2971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Manufacturable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017520" y="29718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FSCW + Flux-Barrier</a:t>
            </a:r>
            <a:endParaRPr lang="en-US" sz="14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geometry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577840" y="29718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Fractional-slot concentrated winding simplifies stator manufacturing and shortens end windings. Flux-barrier topology supports scalable assembly with conventional production lines and proven cooling concepts.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069080"/>
            <a:ext cx="11064240" cy="1005840"/>
          </a:xfrm>
          <a:prstGeom prst="rect">
            <a:avLst/>
          </a:prstGeom>
          <a:solidFill>
            <a:srgbClr val="F5F8FA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548640" y="4069080"/>
            <a:ext cx="91440" cy="10058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777240" y="4114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017520" y="41148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Cooling-Integrated Flux Barriers</a:t>
            </a:r>
            <a:endParaRPr lang="en-US" sz="14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FEAAM research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577840" y="41148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 channels integrated around flux barriers enable higher continuous power density without thermal derating. Removes a common bottleneck for high-duty forklift drives.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5440680"/>
            <a:ext cx="11064240" cy="411480"/>
          </a:xfrm>
          <a:prstGeom prst="rect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548640" y="54406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electromagnetic competencies: loss reduction, FSCW optimization, flux-barrier topology, and integrated cooling.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0" y="6355080"/>
            <a:ext cx="2743200" cy="50292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 flipH="1">
            <a:off x="7772400" y="6583680"/>
            <a:ext cx="4389120" cy="27432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58521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692640" y="5989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orklift_deck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9601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FEAAM Technology Mapped to the Forklift Drive Architecture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783080"/>
            <a:ext cx="11064240" cy="1005840"/>
          </a:xfrm>
          <a:prstGeom prst="rect">
            <a:avLst/>
          </a:prstGeom>
          <a:solidFill>
            <a:srgbClr val="F5F8FA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91440" cy="10058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777240" y="1828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Motor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(drive wheel)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017520" y="18288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Flux-Barrier Stator</a:t>
            </a:r>
            <a:endParaRPr lang="en-US" sz="14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series production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577840" y="18186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flux-barrier topologies have shown significant reductions in parasitic harmonics and measurable torque-density improvements in selected machine configurations.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926080"/>
            <a:ext cx="11064240" cy="1005840"/>
          </a:xfrm>
          <a:prstGeom prst="rect">
            <a:avLst/>
          </a:prstGeom>
          <a:solidFill>
            <a:srgbClr val="F5F8FA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548640" y="2926080"/>
            <a:ext cx="91440" cy="10058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777240" y="2971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Hoist / Hydraulic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Motor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017520" y="29718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Magnet-Free Motor</a:t>
            </a:r>
            <a:endParaRPr lang="en-US" sz="14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concept in validation phase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577840" y="29718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rare-earth content. Full decoupling from the Nd-Fe-B supply chain. Brushless, slip-ring-free, with PM-class power density and high zero-speed torque. Ideal for long-life, duty-cycle-heavy lift motors.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069080"/>
            <a:ext cx="11064240" cy="1005840"/>
          </a:xfrm>
          <a:prstGeom prst="rect">
            <a:avLst/>
          </a:prstGeom>
          <a:solidFill>
            <a:srgbClr val="F5F8FA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548640" y="4069080"/>
            <a:ext cx="91440" cy="10058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777240" y="4114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Steering &amp;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Auxiliary Motors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017520" y="41148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5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Axial Flux Motor</a:t>
            </a:r>
            <a:endParaRPr lang="en-US" sz="14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high-density topology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577840" y="41148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Disc-form axial flux topology delivers high torque density in a compact axial footprint, well-suited to space-constrained steering and auxiliary positions. Robust construction supports the vibration and thermal cycling typical of forklift duty.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5440680"/>
            <a:ext cx="11064240" cy="411480"/>
          </a:xfrm>
          <a:prstGeom prst="rect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548640" y="54406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IP portfolio addresses every motor in the truck, from premium traction down to auxiliary actuators.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0" y="6355080"/>
            <a:ext cx="2743200" cy="50292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 flipH="1">
            <a:off x="7772400" y="6583680"/>
            <a:ext cx="4389120" cy="27432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58521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692640" y="5989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Innovations</a:t>
            </a:r>
            <a:endParaRPr lang="en-US" sz="1400" dirty="0"/>
          </a:p>
        </p:txBody>
      </p:sp>
      <p:sp>
        <p:nvSpPr>
          <p:cNvPr id="25" name="Text 26">
            <a:extLst>
              <a:ext uri="{FF2B5EF4-FFF2-40B4-BE49-F238E27FC236}">
                <a16:creationId xmlns:a16="http://schemas.microsoft.com/office/drawing/2014/main" id="{FFDE0C76-2746-AB8C-5963-C2E641B15ABF}"/>
              </a:ext>
            </a:extLst>
          </p:cNvPr>
          <p:cNvSpPr/>
          <p:nvPr/>
        </p:nvSpPr>
        <p:spPr>
          <a:xfrm>
            <a:off x="243840" y="60121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info@feaam.de   |   https://feaam.de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750</Words>
  <Application>Microsoft Office PowerPoint</Application>
  <PresentationFormat>Widescreen</PresentationFormat>
  <Paragraphs>104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Future-Proofing Electric Forklift Drives</dc:title>
  <dc:subject>PptxGenJS Presentation</dc:subject>
  <dc:creator>FEAAM GmbH</dc:creator>
  <cp:lastModifiedBy>Ishita Bhatt</cp:lastModifiedBy>
  <cp:revision>9</cp:revision>
  <dcterms:created xsi:type="dcterms:W3CDTF">2026-05-08T07:49:17Z</dcterms:created>
  <dcterms:modified xsi:type="dcterms:W3CDTF">2026-05-22T05:22:43Z</dcterms:modified>
</cp:coreProperties>
</file>