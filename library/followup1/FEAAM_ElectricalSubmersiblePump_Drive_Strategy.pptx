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Value</c:v>
                </c:pt>
              </c:strCache>
            </c:strRef>
          </c:tx>
          <c:spPr>
            <a:solidFill>
              <a:srgbClr val="1F5878"/>
            </a:solidFill>
            <a:effectLst/>
          </c:spPr>
          <c:invertIfNegative val="0"/>
          <c:cat>
            <c:strRef>
              <c:f>Sheet1!$A$2:$A$12</c:f>
              <c:strCache>
                <c:ptCount val="11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  <c:pt idx="4">
                  <c:v>2027</c:v>
                </c:pt>
                <c:pt idx="5">
                  <c:v>2028</c:v>
                </c:pt>
                <c:pt idx="6">
                  <c:v>2029</c:v>
                </c:pt>
                <c:pt idx="7">
                  <c:v>2030</c:v>
                </c:pt>
                <c:pt idx="8">
                  <c:v>2031</c:v>
                </c:pt>
                <c:pt idx="9">
                  <c:v>2032</c:v>
                </c:pt>
                <c:pt idx="10">
                  <c:v>2033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10.4</c:v>
                </c:pt>
                <c:pt idx="1">
                  <c:v>11.1</c:v>
                </c:pt>
                <c:pt idx="2">
                  <c:v>11.8</c:v>
                </c:pt>
                <c:pt idx="3">
                  <c:v>12.6</c:v>
                </c:pt>
                <c:pt idx="4">
                  <c:v>13.4</c:v>
                </c:pt>
                <c:pt idx="5">
                  <c:v>14.3</c:v>
                </c:pt>
                <c:pt idx="6">
                  <c:v>15.3</c:v>
                </c:pt>
                <c:pt idx="7">
                  <c:v>16.3</c:v>
                </c:pt>
                <c:pt idx="8">
                  <c:v>17.3</c:v>
                </c:pt>
                <c:pt idx="9">
                  <c:v>18.5</c:v>
                </c:pt>
                <c:pt idx="10">
                  <c:v>19.7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FB-4F5B-B277-EC03FFD7BC7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5804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55448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Future-Proofing Electric</a:t>
            </a:r>
            <a:endParaRPr lang="en-US" sz="4400" dirty="0"/>
          </a:p>
          <a:p>
            <a:pPr marL="0" indent="0">
              <a:buNone/>
            </a:pPr>
            <a:r>
              <a:rPr lang="en-US" sz="4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Submersible Pump Drives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85800" y="3566160"/>
            <a:ext cx="1828800" cy="36576"/>
          </a:xfrm>
          <a:prstGeom prst="rect">
            <a:avLst/>
          </a:prstGeom>
          <a:solidFill>
            <a:srgbClr val="E89B2C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Text 2"/>
          <p:cNvSpPr/>
          <p:nvPr/>
        </p:nvSpPr>
        <p:spPr>
          <a:xfrm>
            <a:off x="64008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IP for slim-bore power density, rare-earth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de-risking, and long-MTBF downhole reliability.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640080" y="4983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FEAAM GmbH, Research Center for Electrical Drives and Actuators Munich</a:t>
            </a:r>
            <a:endParaRPr lang="en-US" sz="1300" dirty="0"/>
          </a:p>
        </p:txBody>
      </p:sp>
      <p:sp>
        <p:nvSpPr>
          <p:cNvPr id="9" name="Text 25">
            <a:extLst>
              <a:ext uri="{FF2B5EF4-FFF2-40B4-BE49-F238E27FC236}">
                <a16:creationId xmlns:a16="http://schemas.microsoft.com/office/drawing/2014/main" id="{8A210EE9-4FE4-3944-A0FB-68771638CEE8}"/>
              </a:ext>
            </a:extLst>
          </p:cNvPr>
          <p:cNvSpPr/>
          <p:nvPr/>
        </p:nvSpPr>
        <p:spPr>
          <a:xfrm>
            <a:off x="640080" y="5303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info@feaam.de   |   https://feaam.de</a:t>
            </a:r>
            <a:endParaRPr lang="en-US" sz="1200" dirty="0"/>
          </a:p>
        </p:txBody>
      </p:sp>
      <p:sp>
        <p:nvSpPr>
          <p:cNvPr id="10" name="Shape 18">
            <a:extLst>
              <a:ext uri="{FF2B5EF4-FFF2-40B4-BE49-F238E27FC236}">
                <a16:creationId xmlns:a16="http://schemas.microsoft.com/office/drawing/2014/main" id="{43E6C855-EB54-FDCC-5B84-93BCA88BD37E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19">
            <a:extLst>
              <a:ext uri="{FF2B5EF4-FFF2-40B4-BE49-F238E27FC236}">
                <a16:creationId xmlns:a16="http://schemas.microsoft.com/office/drawing/2014/main" id="{F4FAA996-0C6F-4A0C-7C7A-B5ABF9A550D9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 Submersible Pump Market: Scale, Harsh Duty, and Motor Geometry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54864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sustained growth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48640" y="2148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Global ESP market projected from USD 10.4B (2023) to USD 19.7B (2033), </a:t>
            </a:r>
            <a:r>
              <a:rPr lang="en-US" sz="14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6.5% CAGR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Multi-segment end-use architecture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48640" y="32461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ESPs serve four distinct duty profiles: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356616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and gas artificial lift (deepest wells, highest temperatures)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water supply and deep-well extraction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dewatering, mining, and process service</a:t>
            </a:r>
            <a:endParaRPr lang="en-US" sz="13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wastewater and sewage handling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846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OEM landscape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548640" y="52120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and gas: Baker Hughes, SLB, Halliburton, Weatherford. Water and general industry: Grundfos, Franklin Electric, Sulzer, Xylem, KSB, Wilo. Asia-Pacific is the fastest-growing region.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355080" y="1737360"/>
            <a:ext cx="5440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ESP Market, Value (USD Billion)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355080" y="2103120"/>
          <a:ext cx="54406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3" name="Text 9"/>
          <p:cNvSpPr/>
          <p:nvPr/>
        </p:nvSpPr>
        <p:spPr>
          <a:xfrm>
            <a:off x="6355080" y="5897880"/>
            <a:ext cx="5440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Allied Market Research, Electric Submersible Pump Market (2023-2033). Values in USD Billion. 6.5% CAGR.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5495D091-4A1A-4319-ACC5-33757D8DBCD8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E9F9B590-72F6-C8F7-45D0-9AA21C6DB6B2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Forces Converging on the Submersible Pump Drive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3657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Slim-Bore Power Density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3657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3657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Casing diameters typically 3.75 to 7.4 inches, yet pump strings must deliver tens to hundreds of kW continuous power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designs are diameter-limited, not length-limited; torque density per unit bore volume sets the entire system spec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API casing sizes leave little room for incremental geometry tweaks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torque density per unit bore volume directly enables greater deliverable lift capacity within fixed casing constraints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2519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Rare-Earth &amp; Thermal Risk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2519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42519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PM-based ESPs gaining share for efficiency, but downhole temperatures of 150 to 200 C threaten Nd-Fe-B demagnetization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~60% of global rare-earth mining and &gt;90% of processing concentrated in China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 supply volatility hits a market already exposed to oilfield capex cycles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OEMs need a viable magnet-free pathway for high-temperature service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38160" y="1828800"/>
            <a:ext cx="3703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Pulling Cost &amp; MTBF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138160" y="2331720"/>
            <a:ext cx="1097280" cy="36576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8138160" y="2468880"/>
            <a:ext cx="37033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oilfield ESP intervention can exceed USD 250K in rig time and deferred production per pull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Time Between Failures of 2 to 5 years is the current industry baseline; OEMs are pushed to lengthen it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Municipal and industrial outages drive SLA penalties and emergency service costs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Brushless, slip-ring-free designs remove a class of wear failures from the bathtub curve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5532120"/>
            <a:ext cx="11475720" cy="50292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365760" y="5532120"/>
            <a:ext cx="11475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ESP-OEM squeeze: maximum power into a fixed bore, under harsh thermal load, at multi-year service intervals.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19" name="Shape 18">
            <a:extLst>
              <a:ext uri="{FF2B5EF4-FFF2-40B4-BE49-F238E27FC236}">
                <a16:creationId xmlns:a16="http://schemas.microsoft.com/office/drawing/2014/main" id="{0AEA9D14-91E0-F01F-1C24-084FC7BE3104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Shape 19">
            <a:extLst>
              <a:ext uri="{FF2B5EF4-FFF2-40B4-BE49-F238E27FC236}">
                <a16:creationId xmlns:a16="http://schemas.microsoft.com/office/drawing/2014/main" id="{E31215C8-8574-D0EE-F900-97481D885D0F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9144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 Models for ESP OEMs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5486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~80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5486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Patents worldwide across topology, control, and AI estimation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4348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2%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44348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in global Elsevier scientist rankings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321040" y="1691640"/>
            <a:ext cx="3337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2006</a:t>
            </a:r>
            <a:endParaRPr lang="en-US" sz="5600" dirty="0"/>
          </a:p>
        </p:txBody>
      </p:sp>
      <p:sp>
        <p:nvSpPr>
          <p:cNvPr id="9" name="Text 6"/>
          <p:cNvSpPr/>
          <p:nvPr/>
        </p:nvSpPr>
        <p:spPr>
          <a:xfrm>
            <a:off x="8321040" y="269748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R&amp;D, spin-off of Bundeswehr University Munich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486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5486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5486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1: Technology License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315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OEM integrates proven FEAAM IP into existing ESP motor platforms, oilfield or water service.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72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7772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months to design files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4348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Shape 14"/>
          <p:cNvSpPr/>
          <p:nvPr/>
        </p:nvSpPr>
        <p:spPr>
          <a:xfrm>
            <a:off x="44348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Text 15"/>
          <p:cNvSpPr/>
          <p:nvPr/>
        </p:nvSpPr>
        <p:spPr>
          <a:xfrm>
            <a:off x="44348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2: Joint Development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6177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FEAAM designs a bespoke, validated motor for a specific bore size, depth, and temperature envelope.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46634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8"/>
          <p:cNvSpPr/>
          <p:nvPr/>
        </p:nvSpPr>
        <p:spPr>
          <a:xfrm>
            <a:off x="46634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to 18 months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321040" y="3611880"/>
            <a:ext cx="333756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C9C9C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0"/>
          <p:cNvSpPr/>
          <p:nvPr/>
        </p:nvSpPr>
        <p:spPr>
          <a:xfrm>
            <a:off x="8321040" y="3611880"/>
            <a:ext cx="333756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4" name="Text 21"/>
          <p:cNvSpPr/>
          <p:nvPr/>
        </p:nvSpPr>
        <p:spPr>
          <a:xfrm>
            <a:off x="8321040" y="361188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3: Sample / Pilot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503920" y="4206240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FEAAM technology on a representative downhole or surface use-case before full commitment.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8549640" y="5349240"/>
            <a:ext cx="2880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8549640" y="534924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to 6 months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457200" y="6217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33" name="Shape 18">
            <a:extLst>
              <a:ext uri="{FF2B5EF4-FFF2-40B4-BE49-F238E27FC236}">
                <a16:creationId xmlns:a16="http://schemas.microsoft.com/office/drawing/2014/main" id="{2CEB79EC-FCF7-0CBC-721B-4A1F9CC7DE4F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Shape 19">
            <a:extLst>
              <a:ext uri="{FF2B5EF4-FFF2-40B4-BE49-F238E27FC236}">
                <a16:creationId xmlns:a16="http://schemas.microsoft.com/office/drawing/2014/main" id="{E5B89924-D2DA-C72F-F895-6AADF3C0FE0A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84328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FEAAM for Submersible Pump Drives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457200" y="1656080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457200" y="1656080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85800" y="17932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Slim-Bore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Density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26080" y="179324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FSCW + Flux-Barrier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Bore-constrained geometry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79324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motors are diameter-locked by API casing sizes; length is the only free dimension. FEAAM's fractional-slot concentrated winding shortens end windings, and the flux-barrier topology supports high torque density per unit bore volume.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3000248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7200" y="3000248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5800" y="313740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High-Temperature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26080" y="313740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Option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concept in validation phase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3137408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Downhole and process-service temperatures routinely exceed Nd-Fe-B safe operating limits. A magnet-free design removes demagnetization risk entirely while preserving PM-class power density and zero-speed torque.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344416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57200" y="4344416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5800" y="448157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Long-MTBF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926080" y="448157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Brushless Construction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Inaccessible installation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06440" y="4481576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 pump is set, replacement cost dominates ownership. Brushless, slip-ring-free designs remove a class of wear-related failures, supporting the longer service intervals OEMs and operators are targeting.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5725160"/>
            <a:ext cx="1147572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65760" y="5725160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electromagnetic competencies: loss reduction, FSCW optimization, flux-barrier topology, and integrated cooling.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89DD8B03-50B1-3CF8-7CF7-9407AC1CF76D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E20761E4-D13B-F698-579F-5D827F51B705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feaam_hea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61520" cy="822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833120"/>
            <a:ext cx="11430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FEAAM Technology Mapped to the ESP Drive Architecture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645920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5" name="Shape 2"/>
          <p:cNvSpPr/>
          <p:nvPr/>
        </p:nvSpPr>
        <p:spPr>
          <a:xfrm>
            <a:off x="457200" y="1645920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85800" y="178308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Oilfield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High-Temp Motor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2926080" y="17830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Magnet-Free Motor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concept in validation phase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806440" y="178308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rare-earth content. Full decoupling from the Nd-Fe-B supply chain and zero demagnetization exposure at downhole temperatures. Brushless, slip-ring-free, with PM-class power density and high zero-speed torque for deep-well artificial lift duty.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57200" y="2990088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7"/>
          <p:cNvSpPr/>
          <p:nvPr/>
        </p:nvSpPr>
        <p:spPr>
          <a:xfrm>
            <a:off x="457200" y="2990088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Text 8"/>
          <p:cNvSpPr/>
          <p:nvPr/>
        </p:nvSpPr>
        <p:spPr>
          <a:xfrm>
            <a:off x="685800" y="3127248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&amp; General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Motor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2926080" y="3127248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Flux-Barrier Stator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series production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806440" y="3127248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flux-barrier topologies have shown significant reductions in parasitic harmonics and measurable torque-density improvements in selected machine configurations, suitable for high-volume municipal, deep-well, and industrial pump motors.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457200" y="4334256"/>
            <a:ext cx="11338560" cy="1234440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2"/>
          <p:cNvSpPr/>
          <p:nvPr/>
        </p:nvSpPr>
        <p:spPr>
          <a:xfrm>
            <a:off x="457200" y="4334256"/>
            <a:ext cx="73152" cy="1234440"/>
          </a:xfrm>
          <a:prstGeom prst="rect">
            <a:avLst/>
          </a:prstGeom>
          <a:solidFill>
            <a:srgbClr val="C00000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Text 13"/>
          <p:cNvSpPr/>
          <p:nvPr/>
        </p:nvSpPr>
        <p:spPr>
          <a:xfrm>
            <a:off x="685800" y="4471416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&amp;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Auxiliary Motors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926080" y="4471416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Axial Flux Motor</a:t>
            </a:r>
            <a:endParaRPr lang="en-US" sz="1400" dirty="0"/>
          </a:p>
          <a:p>
            <a:pPr marL="0" indent="0">
              <a:buNone/>
            </a:pPr>
            <a:r>
              <a:rPr lang="en-US" sz="12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Compact high-density topology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806440" y="4471416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Disc-form axial flux topology delivers high torque density in a compact axial footprint, well-suited to space-constrained surface boosting, choke, and auxiliary positions. Robust construction supports the vibration and thermal cycling typical of pump-station duty.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365760" y="5715000"/>
            <a:ext cx="11475720" cy="457200"/>
          </a:xfrm>
          <a:prstGeom prst="rect">
            <a:avLst/>
          </a:prstGeom>
          <a:solidFill>
            <a:srgbClr val="1F587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365760" y="5715000"/>
            <a:ext cx="11475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IP portfolio addresses every motor in the pump system, from downhole high-temperature service to surface auxiliaries.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852160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10058400" y="62636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i="1" dirty="0">
                <a:solidFill>
                  <a:srgbClr val="1F58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Innovations</a:t>
            </a:r>
            <a:endParaRPr lang="en-US" sz="1300" dirty="0"/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59A22C90-DB27-4820-8E59-795B79670E15}"/>
              </a:ext>
            </a:extLst>
          </p:cNvPr>
          <p:cNvSpPr/>
          <p:nvPr/>
        </p:nvSpPr>
        <p:spPr>
          <a:xfrm>
            <a:off x="0" y="6355080"/>
            <a:ext cx="2743200" cy="502920"/>
          </a:xfrm>
          <a:prstGeom prst="rtTriangle">
            <a:avLst/>
          </a:prstGeom>
          <a:solidFill>
            <a:srgbClr val="1F5878"/>
          </a:solidFill>
          <a:ln w="12700">
            <a:solidFill>
              <a:srgbClr val="1F587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F07300BD-3B16-B6E7-BF0F-6027B1249AF2}"/>
              </a:ext>
            </a:extLst>
          </p:cNvPr>
          <p:cNvSpPr/>
          <p:nvPr/>
        </p:nvSpPr>
        <p:spPr>
          <a:xfrm flipH="1">
            <a:off x="7772400" y="6583680"/>
            <a:ext cx="4389120" cy="274320"/>
          </a:xfrm>
          <a:prstGeom prst="rtTriangle">
            <a:avLst/>
          </a:prstGeom>
          <a:solidFill>
            <a:srgbClr val="B7CFDC"/>
          </a:solidFill>
          <a:ln w="12700">
            <a:solidFill>
              <a:srgbClr val="B7CFD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C1BDAD74-9740-0D07-944B-743FF5CADC03}"/>
              </a:ext>
            </a:extLst>
          </p:cNvPr>
          <p:cNvSpPr/>
          <p:nvPr/>
        </p:nvSpPr>
        <p:spPr>
          <a:xfrm>
            <a:off x="1747520" y="6238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Contact: info@feaam.de   |   https://feaam.de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885</Words>
  <Application>Microsoft Office PowerPoint</Application>
  <PresentationFormat>Widescreen</PresentationFormat>
  <Paragraphs>104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Future-Proofing Electric Submersible Pump Drives</dc:title>
  <dc:subject>PptxGenJS Presentation</dc:subject>
  <dc:creator>FEAAM GmbH</dc:creator>
  <cp:lastModifiedBy>Ishita Bhatt</cp:lastModifiedBy>
  <cp:revision>2</cp:revision>
  <dcterms:created xsi:type="dcterms:W3CDTF">2026-05-21T10:16:24Z</dcterms:created>
  <dcterms:modified xsi:type="dcterms:W3CDTF">2026-05-22T07:48:58Z</dcterms:modified>
</cp:coreProperties>
</file>