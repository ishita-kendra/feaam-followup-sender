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Value</c:v>
                </c:pt>
              </c:strCache>
            </c:strRef>
          </c:tx>
          <c:spPr>
            <a:solidFill>
              <a:srgbClr val="1F587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  <c:pt idx="3">
                  <c:v>2027</c:v>
                </c:pt>
                <c:pt idx="4">
                  <c:v>2028</c:v>
                </c:pt>
                <c:pt idx="5">
                  <c:v>2029</c:v>
                </c:pt>
                <c:pt idx="6">
                  <c:v>2030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73.099999999999994</c:v>
                </c:pt>
                <c:pt idx="1">
                  <c:v>83.6</c:v>
                </c:pt>
                <c:pt idx="2">
                  <c:v>95.6</c:v>
                </c:pt>
                <c:pt idx="3">
                  <c:v>109.4</c:v>
                </c:pt>
                <c:pt idx="4">
                  <c:v>125.1</c:v>
                </c:pt>
                <c:pt idx="5">
                  <c:v>143</c:v>
                </c:pt>
                <c:pt idx="6">
                  <c:v>163.6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10-45AE-AA8E-A75382D2BD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079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 Electric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Drives</a:t>
            </a:r>
            <a:endParaRPr lang="en-US" sz="4800" dirty="0"/>
          </a:p>
        </p:txBody>
      </p:sp>
      <p:sp>
        <p:nvSpPr>
          <p:cNvPr id="4" name="Shape 1"/>
          <p:cNvSpPr/>
          <p:nvPr/>
        </p:nvSpPr>
        <p:spPr>
          <a:xfrm>
            <a:off x="685800" y="3566160"/>
            <a:ext cx="1828800" cy="36576"/>
          </a:xfrm>
          <a:prstGeom prst="rect">
            <a:avLst/>
          </a:prstGeom>
          <a:solidFill>
            <a:srgbClr val="E89B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IP for specific power, loss reduction,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rare-earth de-risking across commercial, defense, and eVTOL platforms.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0080" y="5074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FEAAM GmbH, Research Center for Electrical Drives and Actuators Munich</a:t>
            </a:r>
            <a:endParaRPr lang="en-US" sz="1300" dirty="0"/>
          </a:p>
        </p:txBody>
      </p:sp>
      <p:sp>
        <p:nvSpPr>
          <p:cNvPr id="9" name="Text 25">
            <a:extLst>
              <a:ext uri="{FF2B5EF4-FFF2-40B4-BE49-F238E27FC236}">
                <a16:creationId xmlns:a16="http://schemas.microsoft.com/office/drawing/2014/main" id="{DA858746-A24B-1D74-9DF5-226115D3B46C}"/>
              </a:ext>
            </a:extLst>
          </p:cNvPr>
          <p:cNvSpPr/>
          <p:nvPr/>
        </p:nvSpPr>
        <p:spPr>
          <a:xfrm>
            <a:off x="640080" y="5486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200" dirty="0"/>
          </a:p>
        </p:txBody>
      </p:sp>
      <p:sp>
        <p:nvSpPr>
          <p:cNvPr id="11" name="Shape 18">
            <a:extLst>
              <a:ext uri="{FF2B5EF4-FFF2-40B4-BE49-F238E27FC236}">
                <a16:creationId xmlns:a16="http://schemas.microsoft.com/office/drawing/2014/main" id="{F2D27A78-5991-1BD0-B50D-4B182D841AEC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9">
            <a:extLst>
              <a:ext uri="{FF2B5EF4-FFF2-40B4-BE49-F238E27FC236}">
                <a16:creationId xmlns:a16="http://schemas.microsoft.com/office/drawing/2014/main" id="{663F7359-3858-2B5C-B0D6-F1439B1683EF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Drone Market: Scale, Specific Power, and Multi-Motor Architecture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sustained growth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4864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Global drone market projected from USD 73.1B (2024) to USD 163.6B (2030),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 CAGR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Multi-motor architecture per platform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count scales steeply with platform class: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multirotor: 4 to 8 propulsion motors plus gimbal and payload servos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and cargo drones: 6 to 12 propulsion plus actuator servos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eVTOL passenger aircraft: 6 to 36+ distributed propulsion motors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additional motor multiplies supply-chain and certification scope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OEM landscape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5303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Commercial: DJI, Parrot, Autel, Skydio. Defense: AeroVironment, Anduril, Shield AI, Elbit. eVTOL: Joby, Archer, Lilium, Volocopter, Beta, Vertical. North America was the largest market in 2024, Asia-Pacific is the fastest-growing.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355080" y="1737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Drone Market, Value (USD Billion)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355080" y="2103120"/>
          <a:ext cx="5440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6355080" y="58978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Grand View Research, Drone Market (2024-2030). Values in USD Billion. 14.3% CAGR.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877A276-9A62-A2AC-2E3C-7183F36B090D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1A8ECCFA-059E-5F35-2FE4-BB92CB87999F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91440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on the Drone Propulsion Drive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57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Specific-Power Ceiling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3657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3657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payload and flight time scale almost linearly with motor specific power, measured in kW/kg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gram of motor and inverter mass directly displaces useful payload or battery capacity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are characterized by high-duty-cycle delivery operations that expose motors to heavy thermal cycling between hover and forward flight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Continuous-duty thermal limits, not peak power, define the usable flight envelope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519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Rare-Earth &amp; Sovereignty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519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2519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drone motors are among the most magnet-intensive designs in any application, on a per-kW basis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global rare-earth mining and &gt;90% of processing concentrated in China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and dual-use programs increasingly require sovereign or de-risked supply chains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 supply disruption directly halts platform production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Harmonic Loss &amp; EMI Reduction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1381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1381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content reduction is a relevant consideration for urban delivery and eVTOL operations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Parasitic harmonic content influences acoustic emission and may contribute to motor-induced EMI (subject to further investigation)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carry sensitive cameras, GPS, RF links, and SAR payloads that motor EMI can corrupt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noise thresholds are tightening in EU and US urban airspace corridors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drone-OEM squeeze: maximum kW/kg, minimum harmonic losses and EMI footprint, on a de-risked supply chain.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33D4A536-A836-50FF-FE85-0A725DEBA10A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C3993694-CA59-9FE4-F511-B795DC2904BD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 for Drone OEMs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worldwide across topology, control, and AI estimation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4348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4348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in global Elsevier scientist rankings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2006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3210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R&amp;D, spin-off of Bundeswehr University Munich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Technology License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integrates proven FEAAM IP into existing drone propulsion or actuator platforms.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 to design files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348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Joint Development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designs a bespoke, validated motor for a specific airframe, payload, and duty profile.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 18 months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210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Sample / Pilot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039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FEAAM technology on a representative airframe or testbench before full commitment.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69E74F40-1AF8-B8B3-8D4D-453CC7ADAB70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1F305AE3-60A2-7637-6D7A-18500551E293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2440" y="8229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FEAAM for Drone Propulsion Drives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595882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595882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733042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Power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(kW/kg)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1733042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FSCW + Flux-Barrier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Compact, light topology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733042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propulsion is weight-constrained before it is cost-constrained. FEAAM's fractional-slot concentrated winding shortens end windings, and the flux-barrier topology supports the torque density needed in compact, weight-optimized rotor and stator geometries.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94005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294005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07721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Reduction &amp; EMI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0" y="307721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Reduction &amp; Flux-Barrier Optimization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FEAAM research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07721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Reductions in parasitic harmonics contribute to lower losses and may reduce motor-induced EMI — relevant considerations for urban drone delivery and eVTOL operation in regulated airspace. Acoustic performance is subject to system-level validation.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28421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28421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42137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Path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26080" y="442137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Option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42137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option removes Nd-Fe-B dependency entirely while preserving PM-class power density and high zero-speed torque. Strategic fit for defense, dual-use, and sovereign-supply eVTOL programs facing rare-earth exposure.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664962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664962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electromagnetic competencies: loss reduction, FSCW optimization, flux-barrier topology, and integrated cooling.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0" y="603072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94B3CDED-A4F8-A390-6544-A098177B5708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3A5B9744-E3DE-BC20-F5EC-A087C34FE115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82296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Technology Mapped to the Drone Drive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61848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61848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75564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&amp;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Propulsion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926080" y="175564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Flux-Barrier Stator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series production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75564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flux-barrier topologies have shown significant reductions in parasitic harmonics and measurable torque-density improvements in selected machine configurations, suitable for commercial multirotor, inspection, and cargo-drone propulsion.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96265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296265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09981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&amp; eVTOL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Propulsion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926080" y="309981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09981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rare-earth content. Full decoupling from the Nd-Fe-B supply chain, with PM-class power density and high zero-speed torque. Strategic option for defense, dual-use, and eVTOL OEMs that require sovereign or de-risked supply for certification and production.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306824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306824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443984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Gimbal, Payload &amp;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Motors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926080" y="4443984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Flux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high-density topology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443984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Disc-form axial flux topology delivers high torque density in a very compact axial footprint, well-suited to weight-critical gimbal, payload, retractable-gear, and control-surface positions. Robust construction supports vibration and thermal cycling typical of airframe duty.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687568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687568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IP portfolio addresses every motor on the airframe, from main propulsion down to gimbal and control-surface actuators.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E935AACB-1E91-E904-0963-7E4F8F290D1B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947BF5F2-F9C1-6211-0379-23E69974E974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E50FF8C-AF51-882F-5A6A-A6117450D9B8}"/>
              </a:ext>
            </a:extLst>
          </p:cNvPr>
          <p:cNvSpPr/>
          <p:nvPr/>
        </p:nvSpPr>
        <p:spPr>
          <a:xfrm>
            <a:off x="1737360" y="62270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904</Words>
  <Application>Microsoft Office PowerPoint</Application>
  <PresentationFormat>Widescreen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Future-Proofing Electric Drone Drives</dc:title>
  <dc:subject>PptxGenJS Presentation</dc:subject>
  <dc:creator>FEAAM GmbH</dc:creator>
  <cp:lastModifiedBy>Ishita Bhatt</cp:lastModifiedBy>
  <cp:revision>3</cp:revision>
  <dcterms:created xsi:type="dcterms:W3CDTF">2026-05-21T10:34:39Z</dcterms:created>
  <dcterms:modified xsi:type="dcterms:W3CDTF">2026-05-22T10:39:43Z</dcterms:modified>
</cp:coreProperties>
</file>