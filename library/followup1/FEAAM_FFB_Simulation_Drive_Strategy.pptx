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Market Value</c:v>
                </c:pt>
              </c:strCache>
            </c:strRef>
          </c:tx>
          <c:spPr>
            <a:solidFill>
              <a:srgbClr val="1F5878"/>
            </a:solidFill>
            <a:effectLst/>
          </c:spPr>
          <c:invertIfNegative val="0"/>
          <c:cat>
            <c:strRef>
              <c:f>Sheet1!$A$2:$A$10</c:f>
              <c:strCache>
                <c:ptCount val="9"/>
                <c:pt idx="0">
                  <c:v>2024</c:v>
                </c:pt>
                <c:pt idx="1">
                  <c:v>2025</c:v>
                </c:pt>
                <c:pt idx="2">
                  <c:v>2026</c:v>
                </c:pt>
                <c:pt idx="3">
                  <c:v>2027</c:v>
                </c:pt>
                <c:pt idx="4">
                  <c:v>2028</c:v>
                </c:pt>
                <c:pt idx="5">
                  <c:v>2029</c:v>
                </c:pt>
                <c:pt idx="6">
                  <c:v>2030</c:v>
                </c:pt>
                <c:pt idx="7">
                  <c:v>2031</c:v>
                </c:pt>
                <c:pt idx="8">
                  <c:v>2032</c:v>
                </c:pt>
              </c:strCache>
            </c:strRef>
          </c:cat>
          <c:val>
            <c:numRef>
              <c:f>Sheet1!$B$2:$B$10</c:f>
              <c:numCache>
                <c:formatCode>General</c:formatCode>
                <c:ptCount val="9"/>
                <c:pt idx="0">
                  <c:v>22.9</c:v>
                </c:pt>
                <c:pt idx="1">
                  <c:v>24.7</c:v>
                </c:pt>
                <c:pt idx="2">
                  <c:v>26.6</c:v>
                </c:pt>
                <c:pt idx="3">
                  <c:v>28.7</c:v>
                </c:pt>
                <c:pt idx="4">
                  <c:v>31</c:v>
                </c:pt>
                <c:pt idx="5">
                  <c:v>33.4</c:v>
                </c:pt>
                <c:pt idx="6">
                  <c:v>36.1</c:v>
                </c:pt>
                <c:pt idx="7">
                  <c:v>38.9</c:v>
                </c:pt>
                <c:pt idx="8">
                  <c:v>42</c:v>
                </c:pt>
              </c:numCache>
            </c:numRef>
          </c:val>
          <c:extLst>
            <c:ext xmlns:c16="http://schemas.microsoft.com/office/drawing/2014/chart" uri="{C3380CC4-5D6E-409C-BE32-E72D297353CC}">
              <c16:uniqueId val="{00000000-4E7F-4147-80AB-E2C214ED12C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2073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feaam_header.png"/>
          <p:cNvPicPr>
            <a:picLocks noChangeAspect="1"/>
          </p:cNvPicPr>
          <p:nvPr/>
        </p:nvPicPr>
        <p:blipFill>
          <a:blip r:embed="rId3"/>
          <a:stretch>
            <a:fillRect/>
          </a:stretch>
        </p:blipFill>
        <p:spPr>
          <a:xfrm>
            <a:off x="0" y="0"/>
            <a:ext cx="12161520" cy="822960"/>
          </a:xfrm>
          <a:prstGeom prst="rect">
            <a:avLst/>
          </a:prstGeom>
        </p:spPr>
      </p:pic>
      <p:sp>
        <p:nvSpPr>
          <p:cNvPr id="3" name="Text 0"/>
          <p:cNvSpPr/>
          <p:nvPr/>
        </p:nvSpPr>
        <p:spPr>
          <a:xfrm>
            <a:off x="640080" y="1554480"/>
            <a:ext cx="10515600" cy="1737360"/>
          </a:xfrm>
          <a:prstGeom prst="rect">
            <a:avLst/>
          </a:prstGeom>
          <a:noFill/>
          <a:ln/>
        </p:spPr>
        <p:txBody>
          <a:bodyPr wrap="square" lIns="0" tIns="0" rIns="0" bIns="0" rtlCol="0" anchor="ctr"/>
          <a:lstStyle/>
          <a:p>
            <a:pPr marL="0" indent="0">
              <a:buNone/>
            </a:pPr>
            <a:r>
              <a:rPr lang="en-US" sz="4600" b="1" dirty="0">
                <a:solidFill>
                  <a:srgbClr val="1A1A1A"/>
                </a:solidFill>
                <a:latin typeface="Calibri" pitchFamily="34" charset="0"/>
                <a:ea typeface="Calibri" pitchFamily="34" charset="-122"/>
                <a:cs typeface="Calibri" pitchFamily="34" charset="-120"/>
              </a:rPr>
              <a:t>Future-Proofing</a:t>
            </a:r>
            <a:endParaRPr lang="en-US" sz="4600" dirty="0"/>
          </a:p>
          <a:p>
            <a:pPr marL="0" indent="0">
              <a:buNone/>
            </a:pPr>
            <a:r>
              <a:rPr lang="en-US" sz="4600" b="1" dirty="0">
                <a:solidFill>
                  <a:srgbClr val="1A1A1A"/>
                </a:solidFill>
                <a:latin typeface="Calibri" pitchFamily="34" charset="0"/>
                <a:ea typeface="Calibri" pitchFamily="34" charset="-122"/>
                <a:cs typeface="Calibri" pitchFamily="34" charset="-120"/>
              </a:rPr>
              <a:t>Force-Feedback Actuators</a:t>
            </a:r>
            <a:endParaRPr lang="en-US" sz="4600" dirty="0"/>
          </a:p>
        </p:txBody>
      </p:sp>
      <p:sp>
        <p:nvSpPr>
          <p:cNvPr id="4" name="Shape 1"/>
          <p:cNvSpPr/>
          <p:nvPr/>
        </p:nvSpPr>
        <p:spPr>
          <a:xfrm>
            <a:off x="685800" y="3566160"/>
            <a:ext cx="1828800" cy="36576"/>
          </a:xfrm>
          <a:prstGeom prst="rect">
            <a:avLst/>
          </a:prstGeom>
          <a:solidFill>
            <a:srgbClr val="E89B2C"/>
          </a:solidFill>
          <a:ln/>
        </p:spPr>
        <p:txBody>
          <a:bodyPr/>
          <a:lstStyle/>
          <a:p>
            <a:endParaRPr lang="en-GB"/>
          </a:p>
        </p:txBody>
      </p:sp>
      <p:sp>
        <p:nvSpPr>
          <p:cNvPr id="5" name="Text 2"/>
          <p:cNvSpPr/>
          <p:nvPr/>
        </p:nvSpPr>
        <p:spPr>
          <a:xfrm>
            <a:off x="640080" y="3794760"/>
            <a:ext cx="10972800" cy="1097280"/>
          </a:xfrm>
          <a:prstGeom prst="rect">
            <a:avLst/>
          </a:prstGeom>
          <a:noFill/>
          <a:ln/>
        </p:spPr>
        <p:txBody>
          <a:bodyPr wrap="square" lIns="0" tIns="0" rIns="0" bIns="0" rtlCol="0" anchor="ctr"/>
          <a:lstStyle/>
          <a:p>
            <a:pPr marL="0" indent="0">
              <a:buNone/>
            </a:pPr>
            <a:r>
              <a:rPr lang="en-US" sz="2100" dirty="0">
                <a:solidFill>
                  <a:srgbClr val="595959"/>
                </a:solidFill>
                <a:latin typeface="Calibri" pitchFamily="34" charset="0"/>
                <a:ea typeface="Calibri" pitchFamily="34" charset="-122"/>
                <a:cs typeface="Calibri" pitchFamily="34" charset="-120"/>
              </a:rPr>
              <a:t>Strategic IP for direct-drive simulation hardware:</a:t>
            </a:r>
            <a:endParaRPr lang="en-US" sz="2100" dirty="0"/>
          </a:p>
          <a:p>
            <a:pPr marL="0" indent="0">
              <a:buNone/>
            </a:pPr>
            <a:r>
              <a:rPr lang="en-US" sz="2100" dirty="0">
                <a:solidFill>
                  <a:srgbClr val="595959"/>
                </a:solidFill>
                <a:latin typeface="Calibri" pitchFamily="34" charset="0"/>
                <a:ea typeface="Calibri" pitchFamily="34" charset="-122"/>
                <a:cs typeface="Calibri" pitchFamily="34" charset="-120"/>
              </a:rPr>
              <a:t>racing wheelbases, flight yokes, pedals, and motion platforms.</a:t>
            </a:r>
            <a:endParaRPr lang="en-US" sz="2100" dirty="0"/>
          </a:p>
        </p:txBody>
      </p:sp>
      <p:sp>
        <p:nvSpPr>
          <p:cNvPr id="6" name="Text 3"/>
          <p:cNvSpPr/>
          <p:nvPr/>
        </p:nvSpPr>
        <p:spPr>
          <a:xfrm>
            <a:off x="640080" y="5074920"/>
            <a:ext cx="10515600" cy="320040"/>
          </a:xfrm>
          <a:prstGeom prst="rect">
            <a:avLst/>
          </a:prstGeom>
          <a:noFill/>
          <a:ln/>
        </p:spPr>
        <p:txBody>
          <a:bodyPr wrap="square" lIns="0" tIns="0" rIns="0" bIns="0"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Prepared by FEAAM GmbH, Research Center for Electrical Drives and Actuators Munich</a:t>
            </a:r>
            <a:endParaRPr lang="en-US" sz="1300" dirty="0"/>
          </a:p>
        </p:txBody>
      </p:sp>
      <p:sp>
        <p:nvSpPr>
          <p:cNvPr id="7" name="Text 4"/>
          <p:cNvSpPr/>
          <p:nvPr/>
        </p:nvSpPr>
        <p:spPr>
          <a:xfrm>
            <a:off x="640080" y="5422392"/>
            <a:ext cx="10515600" cy="292608"/>
          </a:xfrm>
          <a:prstGeom prst="rect">
            <a:avLst/>
          </a:prstGeom>
          <a:noFill/>
          <a:ln/>
        </p:spPr>
        <p:txBody>
          <a:bodyPr wrap="square" lIns="0" tIns="0" rIns="0" bIns="0" rtlCol="0" anchor="ctr"/>
          <a:lstStyle/>
          <a:p>
            <a:pPr marL="0" indent="0">
              <a:buNone/>
            </a:pPr>
            <a:r>
              <a:rPr lang="en-US" sz="1300" dirty="0">
                <a:solidFill>
                  <a:srgbClr val="595959"/>
                </a:solidFill>
                <a:latin typeface="Calibri" pitchFamily="34" charset="0"/>
                <a:ea typeface="Calibri" pitchFamily="34" charset="-122"/>
                <a:cs typeface="Calibri" pitchFamily="34" charset="-120"/>
              </a:rPr>
              <a:t>Contact: info@feaam.de   |   https://feaam.de</a:t>
            </a:r>
            <a:endParaRPr lang="en-US" sz="1300" dirty="0"/>
          </a:p>
        </p:txBody>
      </p:sp>
      <p:sp>
        <p:nvSpPr>
          <p:cNvPr id="10" name="Shape 18">
            <a:extLst>
              <a:ext uri="{FF2B5EF4-FFF2-40B4-BE49-F238E27FC236}">
                <a16:creationId xmlns:a16="http://schemas.microsoft.com/office/drawing/2014/main" id="{159FAC37-AEE6-DFE3-2953-7DFE3568F386}"/>
              </a:ext>
            </a:extLst>
          </p:cNvPr>
          <p:cNvSpPr/>
          <p:nvPr/>
        </p:nvSpPr>
        <p:spPr>
          <a:xfrm>
            <a:off x="0" y="6355080"/>
            <a:ext cx="2743200" cy="502920"/>
          </a:xfrm>
          <a:prstGeom prst="rtTriangle">
            <a:avLst/>
          </a:prstGeom>
          <a:solidFill>
            <a:srgbClr val="1F5878"/>
          </a:solidFill>
          <a:ln w="12700">
            <a:solidFill>
              <a:srgbClr val="1F5878"/>
            </a:solidFill>
            <a:prstDash val="solid"/>
          </a:ln>
        </p:spPr>
        <p:txBody>
          <a:bodyPr/>
          <a:lstStyle/>
          <a:p>
            <a:endParaRPr lang="en-GB"/>
          </a:p>
        </p:txBody>
      </p:sp>
      <p:sp>
        <p:nvSpPr>
          <p:cNvPr id="11" name="Shape 19">
            <a:extLst>
              <a:ext uri="{FF2B5EF4-FFF2-40B4-BE49-F238E27FC236}">
                <a16:creationId xmlns:a16="http://schemas.microsoft.com/office/drawing/2014/main" id="{16B900CA-ED6D-53B7-02E5-773A897B73FC}"/>
              </a:ext>
            </a:extLst>
          </p:cNvPr>
          <p:cNvSpPr/>
          <p:nvPr/>
        </p:nvSpPr>
        <p:spPr>
          <a:xfrm flipH="1">
            <a:off x="7772400" y="6581775"/>
            <a:ext cx="4419600" cy="276225"/>
          </a:xfrm>
          <a:prstGeom prst="rtTriangle">
            <a:avLst/>
          </a:prstGeom>
          <a:solidFill>
            <a:srgbClr val="B7CFDC"/>
          </a:solidFill>
          <a:ln w="12700">
            <a:solidFill>
              <a:srgbClr val="B7CFDC"/>
            </a:solidFill>
            <a:prstDash val="solid"/>
          </a:ln>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feaam_header.png"/>
          <p:cNvPicPr>
            <a:picLocks noChangeAspect="1"/>
          </p:cNvPicPr>
          <p:nvPr/>
        </p:nvPicPr>
        <p:blipFill>
          <a:blip r:embed="rId3"/>
          <a:stretch>
            <a:fillRect/>
          </a:stretch>
        </p:blipFill>
        <p:spPr>
          <a:xfrm>
            <a:off x="0" y="0"/>
            <a:ext cx="12161520" cy="822960"/>
          </a:xfrm>
          <a:prstGeom prst="rect">
            <a:avLst/>
          </a:prstGeom>
        </p:spPr>
      </p:pic>
      <p:sp>
        <p:nvSpPr>
          <p:cNvPr id="3" name="Text 0"/>
          <p:cNvSpPr/>
          <p:nvPr/>
        </p:nvSpPr>
        <p:spPr>
          <a:xfrm>
            <a:off x="365760" y="914400"/>
            <a:ext cx="11430000" cy="640080"/>
          </a:xfrm>
          <a:prstGeom prst="rect">
            <a:avLst/>
          </a:prstGeom>
          <a:noFill/>
          <a:ln/>
        </p:spPr>
        <p:txBody>
          <a:bodyPr wrap="square" lIns="0" tIns="0" rIns="0" bIns="0" rtlCol="0" anchor="ctr"/>
          <a:lstStyle/>
          <a:p>
            <a:pPr marL="0" indent="0" algn="ctr">
              <a:buNone/>
            </a:pPr>
            <a:r>
              <a:rPr lang="en-US" sz="2600" dirty="0">
                <a:solidFill>
                  <a:srgbClr val="1F5878"/>
                </a:solidFill>
                <a:latin typeface="Calibri" pitchFamily="34" charset="0"/>
                <a:ea typeface="Calibri" pitchFamily="34" charset="-122"/>
                <a:cs typeface="Calibri" pitchFamily="34" charset="-120"/>
              </a:rPr>
              <a:t>Sim Racing &amp; Flight Sim: Direct Drive is Reshaping the Hardware Stack</a:t>
            </a:r>
            <a:endParaRPr lang="en-US" sz="2600" dirty="0"/>
          </a:p>
        </p:txBody>
      </p:sp>
      <p:sp>
        <p:nvSpPr>
          <p:cNvPr id="4" name="Text 1"/>
          <p:cNvSpPr/>
          <p:nvPr/>
        </p:nvSpPr>
        <p:spPr>
          <a:xfrm>
            <a:off x="548640" y="1783080"/>
            <a:ext cx="5486400" cy="365760"/>
          </a:xfrm>
          <a:prstGeom prst="rect">
            <a:avLst/>
          </a:prstGeom>
          <a:noFill/>
          <a:ln/>
        </p:spPr>
        <p:txBody>
          <a:bodyPr wrap="square" lIns="0" tIns="0" rIns="0" bIns="0"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Substantial, technology-driven growth</a:t>
            </a:r>
            <a:endParaRPr lang="en-US" sz="1700" dirty="0"/>
          </a:p>
        </p:txBody>
      </p:sp>
      <p:sp>
        <p:nvSpPr>
          <p:cNvPr id="5" name="Text 2"/>
          <p:cNvSpPr/>
          <p:nvPr/>
        </p:nvSpPr>
        <p:spPr>
          <a:xfrm>
            <a:off x="548640" y="2148840"/>
            <a:ext cx="5486400" cy="914400"/>
          </a:xfrm>
          <a:prstGeom prst="rect">
            <a:avLst/>
          </a:prstGeom>
          <a:noFill/>
          <a:ln/>
        </p:spPr>
        <p:txBody>
          <a:bodyPr wrap="square" lIns="0" tIns="0" rIns="0" bIns="0" rtlCol="0" anchor="ctr"/>
          <a:lstStyle/>
          <a:p>
            <a:pPr marL="0" indent="0">
              <a:buNone/>
            </a:pPr>
            <a:r>
              <a:rPr lang="en-US" sz="1350" dirty="0">
                <a:solidFill>
                  <a:srgbClr val="1A1A1A"/>
                </a:solidFill>
                <a:latin typeface="Calibri" pitchFamily="34" charset="0"/>
                <a:ea typeface="Calibri" pitchFamily="34" charset="-122"/>
                <a:cs typeface="Calibri" pitchFamily="34" charset="-120"/>
              </a:rPr>
              <a:t xml:space="preserve">Global gaming steering wheels market projected from USD 22.86B (2024) to USD 42B (2032), </a:t>
            </a:r>
            <a:r>
              <a:rPr lang="en-US" sz="1350" b="1" dirty="0">
                <a:solidFill>
                  <a:srgbClr val="C00000"/>
                </a:solidFill>
                <a:latin typeface="Calibri" pitchFamily="34" charset="0"/>
                <a:ea typeface="Calibri" pitchFamily="34" charset="-122"/>
                <a:cs typeface="Calibri" pitchFamily="34" charset="-120"/>
              </a:rPr>
              <a:t>7.90% CAGR</a:t>
            </a:r>
            <a:r>
              <a:rPr lang="en-US" sz="1350" dirty="0">
                <a:solidFill>
                  <a:srgbClr val="1A1A1A"/>
                </a:solidFill>
                <a:latin typeface="Calibri" pitchFamily="34" charset="0"/>
                <a:ea typeface="Calibri" pitchFamily="34" charset="-122"/>
                <a:cs typeface="Calibri" pitchFamily="34" charset="-120"/>
              </a:rPr>
              <a:t>. Adjacent flight simulation hardware market growing in parallel.</a:t>
            </a:r>
            <a:endParaRPr lang="en-US" sz="1350" dirty="0"/>
          </a:p>
        </p:txBody>
      </p:sp>
      <p:sp>
        <p:nvSpPr>
          <p:cNvPr id="6" name="Text 3"/>
          <p:cNvSpPr/>
          <p:nvPr/>
        </p:nvSpPr>
        <p:spPr>
          <a:xfrm>
            <a:off x="548640" y="3154680"/>
            <a:ext cx="5486400" cy="365760"/>
          </a:xfrm>
          <a:prstGeom prst="rect">
            <a:avLst/>
          </a:prstGeom>
          <a:noFill/>
          <a:ln/>
        </p:spPr>
        <p:txBody>
          <a:bodyPr wrap="square" lIns="0" tIns="0" rIns="0" bIns="0"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Force-feedback shift across the product stack</a:t>
            </a:r>
            <a:endParaRPr lang="en-US" sz="1700" dirty="0"/>
          </a:p>
        </p:txBody>
      </p:sp>
      <p:sp>
        <p:nvSpPr>
          <p:cNvPr id="7" name="Text 4"/>
          <p:cNvSpPr/>
          <p:nvPr/>
        </p:nvSpPr>
        <p:spPr>
          <a:xfrm>
            <a:off x="548640" y="3520440"/>
            <a:ext cx="5486400" cy="292608"/>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Active FFB is replacing passive and belt-driven designs across:</a:t>
            </a:r>
            <a:endParaRPr lang="en-US" sz="1300" dirty="0"/>
          </a:p>
        </p:txBody>
      </p:sp>
      <p:sp>
        <p:nvSpPr>
          <p:cNvPr id="8" name="Text 5"/>
          <p:cNvSpPr/>
          <p:nvPr/>
        </p:nvSpPr>
        <p:spPr>
          <a:xfrm>
            <a:off x="822960" y="3840480"/>
            <a:ext cx="5212080" cy="109728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rgbClr val="1A1A1A"/>
                </a:solidFill>
                <a:latin typeface="Calibri" pitchFamily="34" charset="0"/>
                <a:ea typeface="Calibri" pitchFamily="34" charset="-122"/>
                <a:cs typeface="Calibri" pitchFamily="34" charset="-120"/>
              </a:rPr>
              <a:t>racing wheelbases (direct-drive replacing belt-reduction)</a:t>
            </a:r>
            <a:endParaRPr lang="en-US" sz="1300" dirty="0"/>
          </a:p>
          <a:p>
            <a:pPr marL="342900" indent="-342900">
              <a:spcAft>
                <a:spcPts val="200"/>
              </a:spcAft>
              <a:buSzPct val="100000"/>
              <a:buChar char="•"/>
            </a:pPr>
            <a:r>
              <a:rPr lang="en-US" sz="1300" dirty="0">
                <a:solidFill>
                  <a:srgbClr val="1A1A1A"/>
                </a:solidFill>
                <a:latin typeface="Calibri" pitchFamily="34" charset="0"/>
                <a:ea typeface="Calibri" pitchFamily="34" charset="-122"/>
                <a:cs typeface="Calibri" pitchFamily="34" charset="-120"/>
              </a:rPr>
              <a:t>flight yokes and sticks (active FFB replacing spring-centering)</a:t>
            </a:r>
            <a:endParaRPr lang="en-US" sz="1300" dirty="0"/>
          </a:p>
          <a:p>
            <a:pPr marL="342900" indent="-342900">
              <a:spcAft>
                <a:spcPts val="200"/>
              </a:spcAft>
              <a:buSzPct val="100000"/>
              <a:buChar char="•"/>
            </a:pPr>
            <a:r>
              <a:rPr lang="en-US" sz="1300" dirty="0">
                <a:solidFill>
                  <a:srgbClr val="1A1A1A"/>
                </a:solidFill>
                <a:latin typeface="Calibri" pitchFamily="34" charset="0"/>
                <a:ea typeface="Calibri" pitchFamily="34" charset="-122"/>
                <a:cs typeface="Calibri" pitchFamily="34" charset="-120"/>
              </a:rPr>
              <a:t>haptic pedals (software-defined load response)</a:t>
            </a:r>
            <a:endParaRPr lang="en-US" sz="1300" dirty="0"/>
          </a:p>
          <a:p>
            <a:pPr marL="342900" indent="-342900">
              <a:spcAft>
                <a:spcPts val="200"/>
              </a:spcAft>
              <a:buSzPct val="100000"/>
              <a:buChar char="•"/>
            </a:pPr>
            <a:r>
              <a:rPr lang="en-US" sz="1300" dirty="0">
                <a:solidFill>
                  <a:srgbClr val="1A1A1A"/>
                </a:solidFill>
                <a:latin typeface="Calibri" pitchFamily="34" charset="0"/>
                <a:ea typeface="Calibri" pitchFamily="34" charset="-122"/>
                <a:cs typeface="Calibri" pitchFamily="34" charset="-120"/>
              </a:rPr>
              <a:t>motion platform actuators</a:t>
            </a:r>
            <a:endParaRPr lang="en-US" sz="1300" dirty="0"/>
          </a:p>
        </p:txBody>
      </p:sp>
      <p:sp>
        <p:nvSpPr>
          <p:cNvPr id="9" name="Text 6"/>
          <p:cNvSpPr/>
          <p:nvPr/>
        </p:nvSpPr>
        <p:spPr>
          <a:xfrm>
            <a:off x="548640" y="4983480"/>
            <a:ext cx="5486400" cy="365760"/>
          </a:xfrm>
          <a:prstGeom prst="rect">
            <a:avLst/>
          </a:prstGeom>
          <a:noFill/>
          <a:ln/>
        </p:spPr>
        <p:txBody>
          <a:bodyPr wrap="square" lIns="0" tIns="0" rIns="0" bIns="0"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Fragmented, technology-led OEM landscape</a:t>
            </a:r>
            <a:endParaRPr lang="en-US" sz="1700" dirty="0"/>
          </a:p>
        </p:txBody>
      </p:sp>
      <p:sp>
        <p:nvSpPr>
          <p:cNvPr id="10" name="Text 7"/>
          <p:cNvSpPr/>
          <p:nvPr/>
        </p:nvSpPr>
        <p:spPr>
          <a:xfrm>
            <a:off x="548640" y="5349240"/>
            <a:ext cx="5486400" cy="91440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Sim racing: Fanatec, Simucube, Logitech, Thrustmaster, Simagic, Hori, SteelSeries. Flight sim: Brunner, VPForce, FFBeast, Honeycomb, Virpil, Thrustmaster. Many vendors, no dominant motor technology.</a:t>
            </a:r>
            <a:endParaRPr lang="en-US" sz="1250" dirty="0"/>
          </a:p>
        </p:txBody>
      </p:sp>
      <p:sp>
        <p:nvSpPr>
          <p:cNvPr id="11" name="Text 8"/>
          <p:cNvSpPr/>
          <p:nvPr/>
        </p:nvSpPr>
        <p:spPr>
          <a:xfrm>
            <a:off x="6355080" y="1737360"/>
            <a:ext cx="5440680" cy="36576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Global Gaming Steering Wheels Market, Value (USD Billion)</a:t>
            </a:r>
            <a:endParaRPr lang="en-US" sz="1350" dirty="0"/>
          </a:p>
        </p:txBody>
      </p:sp>
      <p:graphicFrame>
        <p:nvGraphicFramePr>
          <p:cNvPr id="12" name="Chart 0"/>
          <p:cNvGraphicFramePr/>
          <p:nvPr/>
        </p:nvGraphicFramePr>
        <p:xfrm>
          <a:off x="6355080" y="2103120"/>
          <a:ext cx="5440680" cy="374904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 9"/>
          <p:cNvSpPr/>
          <p:nvPr/>
        </p:nvSpPr>
        <p:spPr>
          <a:xfrm>
            <a:off x="6355080" y="5897880"/>
            <a:ext cx="5440680" cy="274320"/>
          </a:xfrm>
          <a:prstGeom prst="rect">
            <a:avLst/>
          </a:prstGeom>
          <a:noFill/>
          <a:ln/>
        </p:spPr>
        <p:txBody>
          <a:bodyPr wrap="square" lIns="0" tIns="0" rIns="0" bIns="0" rtlCol="0" anchor="ctr"/>
          <a:lstStyle/>
          <a:p>
            <a:pPr marL="0" indent="0">
              <a:buNone/>
            </a:pPr>
            <a:r>
              <a:rPr lang="en-US" sz="1000" i="1" dirty="0">
                <a:solidFill>
                  <a:srgbClr val="595959"/>
                </a:solidFill>
                <a:latin typeface="Calibri" pitchFamily="34" charset="0"/>
                <a:ea typeface="Calibri" pitchFamily="34" charset="-122"/>
                <a:cs typeface="Calibri" pitchFamily="34" charset="-120"/>
              </a:rPr>
              <a:t>Source: Data Bridge Market Research, Global Gaming Steering Wheels Market (2024-2032). Values in USD Billion.</a:t>
            </a:r>
            <a:endParaRPr lang="en-US" sz="1000" dirty="0"/>
          </a:p>
        </p:txBody>
      </p:sp>
      <p:sp>
        <p:nvSpPr>
          <p:cNvPr id="16" name="Text 12"/>
          <p:cNvSpPr/>
          <p:nvPr/>
        </p:nvSpPr>
        <p:spPr>
          <a:xfrm>
            <a:off x="5852160" y="6510528"/>
            <a:ext cx="457200" cy="274320"/>
          </a:xfrm>
          <a:prstGeom prst="rect">
            <a:avLst/>
          </a:prstGeom>
          <a:noFill/>
          <a:ln/>
        </p:spPr>
        <p:txBody>
          <a:bodyPr wrap="square" rtlCol="0" anchor="ctr"/>
          <a:lstStyle/>
          <a:p>
            <a:pPr marL="0" indent="0" algn="ctr">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17" name="Text 13"/>
          <p:cNvSpPr/>
          <p:nvPr/>
        </p:nvSpPr>
        <p:spPr>
          <a:xfrm>
            <a:off x="10058400" y="6263640"/>
            <a:ext cx="2011680" cy="320040"/>
          </a:xfrm>
          <a:prstGeom prst="rect">
            <a:avLst/>
          </a:prstGeom>
          <a:noFill/>
          <a:ln/>
        </p:spPr>
        <p:txBody>
          <a:bodyPr wrap="square" rtlCol="0" anchor="ctr"/>
          <a:lstStyle/>
          <a:p>
            <a:pPr marL="0" indent="0" algn="r">
              <a:buNone/>
            </a:pPr>
            <a:r>
              <a:rPr lang="en-US" sz="1300" i="1" dirty="0">
                <a:solidFill>
                  <a:srgbClr val="1F5878"/>
                </a:solidFill>
                <a:latin typeface="Calibri" pitchFamily="34" charset="0"/>
                <a:ea typeface="Calibri" pitchFamily="34" charset="-122"/>
                <a:cs typeface="Calibri" pitchFamily="34" charset="-120"/>
              </a:rPr>
              <a:t>Drive Innovations</a:t>
            </a:r>
            <a:endParaRPr lang="en-US" sz="1300" dirty="0"/>
          </a:p>
        </p:txBody>
      </p:sp>
      <p:sp>
        <p:nvSpPr>
          <p:cNvPr id="18" name="Shape 18">
            <a:extLst>
              <a:ext uri="{FF2B5EF4-FFF2-40B4-BE49-F238E27FC236}">
                <a16:creationId xmlns:a16="http://schemas.microsoft.com/office/drawing/2014/main" id="{AED5310D-4B17-0BE8-EDF7-08E0CA3FDA5F}"/>
              </a:ext>
            </a:extLst>
          </p:cNvPr>
          <p:cNvSpPr/>
          <p:nvPr/>
        </p:nvSpPr>
        <p:spPr>
          <a:xfrm>
            <a:off x="0" y="6355080"/>
            <a:ext cx="2743200" cy="502920"/>
          </a:xfrm>
          <a:prstGeom prst="rtTriangle">
            <a:avLst/>
          </a:prstGeom>
          <a:solidFill>
            <a:srgbClr val="1F5878"/>
          </a:solidFill>
          <a:ln w="12700">
            <a:solidFill>
              <a:srgbClr val="1F5878"/>
            </a:solidFill>
            <a:prstDash val="solid"/>
          </a:ln>
        </p:spPr>
        <p:txBody>
          <a:bodyPr/>
          <a:lstStyle/>
          <a:p>
            <a:endParaRPr lang="en-GB"/>
          </a:p>
        </p:txBody>
      </p:sp>
      <p:sp>
        <p:nvSpPr>
          <p:cNvPr id="19" name="Shape 19">
            <a:extLst>
              <a:ext uri="{FF2B5EF4-FFF2-40B4-BE49-F238E27FC236}">
                <a16:creationId xmlns:a16="http://schemas.microsoft.com/office/drawing/2014/main" id="{7E6E1C6A-0811-7B1D-28C3-4348BEC5502F}"/>
              </a:ext>
            </a:extLst>
          </p:cNvPr>
          <p:cNvSpPr/>
          <p:nvPr/>
        </p:nvSpPr>
        <p:spPr>
          <a:xfrm flipH="1">
            <a:off x="7772400" y="6581775"/>
            <a:ext cx="4419600" cy="276225"/>
          </a:xfrm>
          <a:prstGeom prst="rtTriangle">
            <a:avLst/>
          </a:prstGeom>
          <a:solidFill>
            <a:srgbClr val="B7CFDC"/>
          </a:solidFill>
          <a:ln w="12700">
            <a:solidFill>
              <a:srgbClr val="B7CFDC"/>
            </a:solidFill>
            <a:prstDash val="solid"/>
          </a:ln>
        </p:spPr>
        <p:txBody>
          <a:bodyPr/>
          <a:lstStyle/>
          <a:p>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feaam_header.png"/>
          <p:cNvPicPr>
            <a:picLocks noChangeAspect="1"/>
          </p:cNvPicPr>
          <p:nvPr/>
        </p:nvPicPr>
        <p:blipFill>
          <a:blip r:embed="rId3"/>
          <a:stretch>
            <a:fillRect/>
          </a:stretch>
        </p:blipFill>
        <p:spPr>
          <a:xfrm>
            <a:off x="0" y="0"/>
            <a:ext cx="12161520" cy="822960"/>
          </a:xfrm>
          <a:prstGeom prst="rect">
            <a:avLst/>
          </a:prstGeom>
        </p:spPr>
      </p:pic>
      <p:sp>
        <p:nvSpPr>
          <p:cNvPr id="3" name="Text 0"/>
          <p:cNvSpPr/>
          <p:nvPr/>
        </p:nvSpPr>
        <p:spPr>
          <a:xfrm>
            <a:off x="365760" y="914400"/>
            <a:ext cx="11430000" cy="640080"/>
          </a:xfrm>
          <a:prstGeom prst="rect">
            <a:avLst/>
          </a:prstGeom>
          <a:noFill/>
          <a:ln/>
        </p:spPr>
        <p:txBody>
          <a:bodyPr wrap="square" lIns="0" tIns="0" rIns="0" bIns="0" rtlCol="0" anchor="ctr"/>
          <a:lstStyle/>
          <a:p>
            <a:pPr marL="0" indent="0" algn="ctr">
              <a:buNone/>
            </a:pPr>
            <a:r>
              <a:rPr lang="en-US" sz="2800" dirty="0">
                <a:solidFill>
                  <a:srgbClr val="1F5878"/>
                </a:solidFill>
                <a:latin typeface="Calibri" pitchFamily="34" charset="0"/>
                <a:ea typeface="Calibri" pitchFamily="34" charset="-122"/>
                <a:cs typeface="Calibri" pitchFamily="34" charset="-120"/>
              </a:rPr>
              <a:t>What Active Force-Feedback Demands From the Motor</a:t>
            </a:r>
            <a:endParaRPr lang="en-US" sz="2800" dirty="0"/>
          </a:p>
        </p:txBody>
      </p:sp>
      <p:sp>
        <p:nvSpPr>
          <p:cNvPr id="4" name="Text 1"/>
          <p:cNvSpPr/>
          <p:nvPr/>
        </p:nvSpPr>
        <p:spPr>
          <a:xfrm>
            <a:off x="365760" y="1828800"/>
            <a:ext cx="3703320" cy="457200"/>
          </a:xfrm>
          <a:prstGeom prst="rect">
            <a:avLst/>
          </a:prstGeom>
          <a:noFill/>
          <a:ln/>
        </p:spPr>
        <p:txBody>
          <a:bodyPr wrap="square" lIns="0" tIns="0" rIns="0" bIns="0" rtlCol="0" anchor="ctr"/>
          <a:lstStyle/>
          <a:p>
            <a:pPr marL="0" indent="0">
              <a:buNone/>
            </a:pPr>
            <a:r>
              <a:rPr lang="en-US" sz="1650" b="1" dirty="0">
                <a:solidFill>
                  <a:srgbClr val="C00000"/>
                </a:solidFill>
                <a:latin typeface="Calibri" pitchFamily="34" charset="0"/>
                <a:ea typeface="Calibri" pitchFamily="34" charset="-122"/>
                <a:cs typeface="Calibri" pitchFamily="34" charset="-120"/>
              </a:rPr>
              <a:t>1. High-Bandwidth Control</a:t>
            </a:r>
            <a:endParaRPr lang="en-US" sz="1650" dirty="0"/>
          </a:p>
        </p:txBody>
      </p:sp>
      <p:sp>
        <p:nvSpPr>
          <p:cNvPr id="5" name="Shape 2"/>
          <p:cNvSpPr/>
          <p:nvPr/>
        </p:nvSpPr>
        <p:spPr>
          <a:xfrm>
            <a:off x="365760" y="2331720"/>
            <a:ext cx="1097280" cy="36576"/>
          </a:xfrm>
          <a:prstGeom prst="rect">
            <a:avLst/>
          </a:prstGeom>
          <a:solidFill>
            <a:srgbClr val="C00000"/>
          </a:solidFill>
          <a:ln/>
        </p:spPr>
        <p:txBody>
          <a:bodyPr/>
          <a:lstStyle/>
          <a:p>
            <a:endParaRPr lang="en-GB"/>
          </a:p>
        </p:txBody>
      </p:sp>
      <p:sp>
        <p:nvSpPr>
          <p:cNvPr id="6" name="Text 3"/>
          <p:cNvSpPr/>
          <p:nvPr/>
        </p:nvSpPr>
        <p:spPr>
          <a:xfrm>
            <a:off x="365760" y="2468880"/>
            <a:ext cx="3703320" cy="33832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Modern FFB must render micro-textures (road surface, runway cracks, stall buffeting) while holding heavy primary forces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Low torque ripple is non-negotiable for precision around centre position</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Parasitic harmonic content shows up as cogging torque and ‘notchy’ feel that users immediately notice</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Zero phase lag between simulation physics and the user's hands requires low system inertia</a:t>
            </a:r>
            <a:endParaRPr lang="en-US" sz="1300" dirty="0"/>
          </a:p>
        </p:txBody>
      </p:sp>
      <p:sp>
        <p:nvSpPr>
          <p:cNvPr id="7" name="Text 4"/>
          <p:cNvSpPr/>
          <p:nvPr/>
        </p:nvSpPr>
        <p:spPr>
          <a:xfrm>
            <a:off x="4251960" y="1828800"/>
            <a:ext cx="3703320" cy="457200"/>
          </a:xfrm>
          <a:prstGeom prst="rect">
            <a:avLst/>
          </a:prstGeom>
          <a:noFill/>
          <a:ln/>
        </p:spPr>
        <p:txBody>
          <a:bodyPr wrap="square" lIns="0" tIns="0" rIns="0" bIns="0" rtlCol="0" anchor="ctr"/>
          <a:lstStyle/>
          <a:p>
            <a:pPr marL="0" indent="0">
              <a:buNone/>
            </a:pPr>
            <a:r>
              <a:rPr lang="en-US" sz="1650" b="1" dirty="0">
                <a:solidFill>
                  <a:srgbClr val="C00000"/>
                </a:solidFill>
                <a:latin typeface="Calibri" pitchFamily="34" charset="0"/>
                <a:ea typeface="Calibri" pitchFamily="34" charset="-122"/>
                <a:cs typeface="Calibri" pitchFamily="34" charset="-120"/>
              </a:rPr>
              <a:t>2. Continuous-Duty Thermal Load</a:t>
            </a:r>
            <a:endParaRPr lang="en-US" sz="1650" dirty="0"/>
          </a:p>
        </p:txBody>
      </p:sp>
      <p:sp>
        <p:nvSpPr>
          <p:cNvPr id="8" name="Shape 5"/>
          <p:cNvSpPr/>
          <p:nvPr/>
        </p:nvSpPr>
        <p:spPr>
          <a:xfrm>
            <a:off x="4251960" y="2331720"/>
            <a:ext cx="1097280" cy="36576"/>
          </a:xfrm>
          <a:prstGeom prst="rect">
            <a:avLst/>
          </a:prstGeom>
          <a:solidFill>
            <a:srgbClr val="C00000"/>
          </a:solidFill>
          <a:ln/>
        </p:spPr>
        <p:txBody>
          <a:bodyPr/>
          <a:lstStyle/>
          <a:p>
            <a:endParaRPr lang="en-GB"/>
          </a:p>
        </p:txBody>
      </p:sp>
      <p:sp>
        <p:nvSpPr>
          <p:cNvPr id="9" name="Text 6"/>
          <p:cNvSpPr/>
          <p:nvPr/>
        </p:nvSpPr>
        <p:spPr>
          <a:xfrm>
            <a:off x="4251960" y="2468880"/>
            <a:ext cx="3703320" cy="33832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Flight sessions require high torque held statically for long durations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Compact, often unventilated housings limit cooling options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Premium products such as Brunner CLS-P emphasise fanless operation; active cooling adds noise and failure points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Thermal throttling during long sessions is a primary user complaint across the segment</a:t>
            </a:r>
            <a:endParaRPr lang="en-US" sz="1300" dirty="0"/>
          </a:p>
        </p:txBody>
      </p:sp>
      <p:sp>
        <p:nvSpPr>
          <p:cNvPr id="10" name="Text 7"/>
          <p:cNvSpPr/>
          <p:nvPr/>
        </p:nvSpPr>
        <p:spPr>
          <a:xfrm>
            <a:off x="8138160" y="1828800"/>
            <a:ext cx="3703320" cy="457200"/>
          </a:xfrm>
          <a:prstGeom prst="rect">
            <a:avLst/>
          </a:prstGeom>
          <a:noFill/>
          <a:ln/>
        </p:spPr>
        <p:txBody>
          <a:bodyPr wrap="square" lIns="0" tIns="0" rIns="0" bIns="0" rtlCol="0" anchor="ctr"/>
          <a:lstStyle/>
          <a:p>
            <a:pPr marL="0" indent="0">
              <a:buNone/>
            </a:pPr>
            <a:r>
              <a:rPr lang="en-US" sz="1650" b="1" dirty="0">
                <a:solidFill>
                  <a:srgbClr val="C00000"/>
                </a:solidFill>
                <a:latin typeface="Calibri" pitchFamily="34" charset="0"/>
                <a:ea typeface="Calibri" pitchFamily="34" charset="-122"/>
                <a:cs typeface="Calibri" pitchFamily="34" charset="-120"/>
              </a:rPr>
              <a:t>3. Compact, Direct-Drive Footprint</a:t>
            </a:r>
            <a:endParaRPr lang="en-US" sz="1650" dirty="0"/>
          </a:p>
        </p:txBody>
      </p:sp>
      <p:sp>
        <p:nvSpPr>
          <p:cNvPr id="11" name="Shape 8"/>
          <p:cNvSpPr/>
          <p:nvPr/>
        </p:nvSpPr>
        <p:spPr>
          <a:xfrm>
            <a:off x="8138160" y="2331720"/>
            <a:ext cx="1097280" cy="36576"/>
          </a:xfrm>
          <a:prstGeom prst="rect">
            <a:avLst/>
          </a:prstGeom>
          <a:solidFill>
            <a:srgbClr val="C00000"/>
          </a:solidFill>
          <a:ln/>
        </p:spPr>
        <p:txBody>
          <a:bodyPr/>
          <a:lstStyle/>
          <a:p>
            <a:endParaRPr lang="en-GB"/>
          </a:p>
        </p:txBody>
      </p:sp>
      <p:sp>
        <p:nvSpPr>
          <p:cNvPr id="12" name="Text 9"/>
          <p:cNvSpPr/>
          <p:nvPr/>
        </p:nvSpPr>
        <p:spPr>
          <a:xfrm>
            <a:off x="8138160" y="2468880"/>
            <a:ext cx="3703320" cy="33832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Belt-reduction designs are being replaced by direct-drive across racing and flight</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Direct-drive demands torque density in a much smaller package than industrial servos provide</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'Desk-pit' and integrated cockpit form factors leave no room for bulky industrial motors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Higher torque in a smaller footprint cuts assembly time and BOM</a:t>
            </a:r>
            <a:endParaRPr lang="en-US" sz="1300" dirty="0"/>
          </a:p>
        </p:txBody>
      </p:sp>
      <p:sp>
        <p:nvSpPr>
          <p:cNvPr id="13" name="Shape 10"/>
          <p:cNvSpPr/>
          <p:nvPr/>
        </p:nvSpPr>
        <p:spPr>
          <a:xfrm>
            <a:off x="365760" y="5532120"/>
            <a:ext cx="11475720" cy="502920"/>
          </a:xfrm>
          <a:prstGeom prst="rect">
            <a:avLst/>
          </a:prstGeom>
          <a:solidFill>
            <a:srgbClr val="1F5878"/>
          </a:solidFill>
          <a:ln/>
        </p:spPr>
        <p:txBody>
          <a:bodyPr/>
          <a:lstStyle/>
          <a:p>
            <a:endParaRPr lang="en-GB"/>
          </a:p>
        </p:txBody>
      </p:sp>
      <p:sp>
        <p:nvSpPr>
          <p:cNvPr id="14" name="Text 11"/>
          <p:cNvSpPr/>
          <p:nvPr/>
        </p:nvSpPr>
        <p:spPr>
          <a:xfrm>
            <a:off x="365760" y="5532120"/>
            <a:ext cx="114757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FFB exposes machine weaknesses brutally: torque ripple and heating are felt directly by the user.</a:t>
            </a:r>
            <a:endParaRPr lang="en-US" sz="1400" dirty="0"/>
          </a:p>
        </p:txBody>
      </p:sp>
      <p:sp>
        <p:nvSpPr>
          <p:cNvPr id="17" name="Text 14"/>
          <p:cNvSpPr/>
          <p:nvPr/>
        </p:nvSpPr>
        <p:spPr>
          <a:xfrm>
            <a:off x="5852160" y="6510528"/>
            <a:ext cx="457200" cy="274320"/>
          </a:xfrm>
          <a:prstGeom prst="rect">
            <a:avLst/>
          </a:prstGeom>
          <a:noFill/>
          <a:ln/>
        </p:spPr>
        <p:txBody>
          <a:bodyPr wrap="square" rtlCol="0" anchor="ctr"/>
          <a:lstStyle/>
          <a:p>
            <a:pPr marL="0" indent="0" algn="ctr">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18" name="Text 15"/>
          <p:cNvSpPr/>
          <p:nvPr/>
        </p:nvSpPr>
        <p:spPr>
          <a:xfrm>
            <a:off x="10058400" y="6263640"/>
            <a:ext cx="2011680" cy="320040"/>
          </a:xfrm>
          <a:prstGeom prst="rect">
            <a:avLst/>
          </a:prstGeom>
          <a:noFill/>
          <a:ln/>
        </p:spPr>
        <p:txBody>
          <a:bodyPr wrap="square" rtlCol="0" anchor="ctr"/>
          <a:lstStyle/>
          <a:p>
            <a:pPr marL="0" indent="0" algn="r">
              <a:buNone/>
            </a:pPr>
            <a:r>
              <a:rPr lang="en-US" sz="1300" i="1" dirty="0">
                <a:solidFill>
                  <a:srgbClr val="1F5878"/>
                </a:solidFill>
                <a:latin typeface="Calibri" pitchFamily="34" charset="0"/>
                <a:ea typeface="Calibri" pitchFamily="34" charset="-122"/>
                <a:cs typeface="Calibri" pitchFamily="34" charset="-120"/>
              </a:rPr>
              <a:t>Drive Innovations</a:t>
            </a:r>
            <a:endParaRPr lang="en-US" sz="1300" dirty="0"/>
          </a:p>
        </p:txBody>
      </p:sp>
      <p:sp>
        <p:nvSpPr>
          <p:cNvPr id="19" name="Shape 18">
            <a:extLst>
              <a:ext uri="{FF2B5EF4-FFF2-40B4-BE49-F238E27FC236}">
                <a16:creationId xmlns:a16="http://schemas.microsoft.com/office/drawing/2014/main" id="{FBB233E0-3318-AC4B-68E5-BE782BAF92A3}"/>
              </a:ext>
            </a:extLst>
          </p:cNvPr>
          <p:cNvSpPr/>
          <p:nvPr/>
        </p:nvSpPr>
        <p:spPr>
          <a:xfrm>
            <a:off x="0" y="6355080"/>
            <a:ext cx="2743200" cy="502920"/>
          </a:xfrm>
          <a:prstGeom prst="rtTriangle">
            <a:avLst/>
          </a:prstGeom>
          <a:solidFill>
            <a:srgbClr val="1F5878"/>
          </a:solidFill>
          <a:ln w="12700">
            <a:solidFill>
              <a:srgbClr val="1F5878"/>
            </a:solidFill>
            <a:prstDash val="solid"/>
          </a:ln>
        </p:spPr>
        <p:txBody>
          <a:bodyPr/>
          <a:lstStyle/>
          <a:p>
            <a:endParaRPr lang="en-GB"/>
          </a:p>
        </p:txBody>
      </p:sp>
      <p:sp>
        <p:nvSpPr>
          <p:cNvPr id="20" name="Shape 19">
            <a:extLst>
              <a:ext uri="{FF2B5EF4-FFF2-40B4-BE49-F238E27FC236}">
                <a16:creationId xmlns:a16="http://schemas.microsoft.com/office/drawing/2014/main" id="{80CFFC94-7720-A28B-2A6B-E96B2B5F3BAB}"/>
              </a:ext>
            </a:extLst>
          </p:cNvPr>
          <p:cNvSpPr/>
          <p:nvPr/>
        </p:nvSpPr>
        <p:spPr>
          <a:xfrm flipH="1">
            <a:off x="7772400" y="6581775"/>
            <a:ext cx="4419600" cy="276225"/>
          </a:xfrm>
          <a:prstGeom prst="rtTriangle">
            <a:avLst/>
          </a:prstGeom>
          <a:solidFill>
            <a:srgbClr val="B7CFDC"/>
          </a:solidFill>
          <a:ln w="12700">
            <a:solidFill>
              <a:srgbClr val="B7CFDC"/>
            </a:solidFill>
            <a:prstDash val="solid"/>
          </a:ln>
        </p:spPr>
        <p:txBody>
          <a:bodyPr/>
          <a:lstStyle/>
          <a:p>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feaam_header.png"/>
          <p:cNvPicPr>
            <a:picLocks noChangeAspect="1"/>
          </p:cNvPicPr>
          <p:nvPr/>
        </p:nvPicPr>
        <p:blipFill>
          <a:blip r:embed="rId3"/>
          <a:stretch>
            <a:fillRect/>
          </a:stretch>
        </p:blipFill>
        <p:spPr>
          <a:xfrm>
            <a:off x="0" y="0"/>
            <a:ext cx="12161520" cy="822960"/>
          </a:xfrm>
          <a:prstGeom prst="rect">
            <a:avLst/>
          </a:prstGeom>
        </p:spPr>
      </p:pic>
      <p:sp>
        <p:nvSpPr>
          <p:cNvPr id="3" name="Text 0"/>
          <p:cNvSpPr/>
          <p:nvPr/>
        </p:nvSpPr>
        <p:spPr>
          <a:xfrm>
            <a:off x="457200" y="914400"/>
            <a:ext cx="11247120" cy="640080"/>
          </a:xfrm>
          <a:prstGeom prst="rect">
            <a:avLst/>
          </a:prstGeom>
          <a:noFill/>
          <a:ln/>
        </p:spPr>
        <p:txBody>
          <a:bodyPr wrap="square" lIns="0" tIns="0" rIns="0" bIns="0" rtlCol="0" anchor="ctr"/>
          <a:lstStyle/>
          <a:p>
            <a:pPr marL="0" indent="0" algn="ctr">
              <a:buNone/>
            </a:pPr>
            <a:r>
              <a:rPr lang="en-US" sz="2800" dirty="0">
                <a:solidFill>
                  <a:srgbClr val="1F5878"/>
                </a:solidFill>
                <a:latin typeface="Calibri" pitchFamily="34" charset="0"/>
                <a:ea typeface="Calibri" pitchFamily="34" charset="-122"/>
                <a:cs typeface="Calibri" pitchFamily="34" charset="-120"/>
              </a:rPr>
              <a:t>Engagement Models for Simulation Hardware OEMs</a:t>
            </a:r>
            <a:endParaRPr lang="en-US" sz="2800" dirty="0"/>
          </a:p>
        </p:txBody>
      </p:sp>
      <p:sp>
        <p:nvSpPr>
          <p:cNvPr id="4" name="Text 1"/>
          <p:cNvSpPr/>
          <p:nvPr/>
        </p:nvSpPr>
        <p:spPr>
          <a:xfrm>
            <a:off x="548640" y="1691640"/>
            <a:ext cx="3337560" cy="914400"/>
          </a:xfrm>
          <a:prstGeom prst="rect">
            <a:avLst/>
          </a:prstGeom>
          <a:noFill/>
          <a:ln/>
        </p:spPr>
        <p:txBody>
          <a:bodyPr wrap="square" lIns="0" tIns="0" rIns="0" bIns="0" rtlCol="0" anchor="ctr"/>
          <a:lstStyle/>
          <a:p>
            <a:pPr marL="0" indent="0" algn="ctr">
              <a:buNone/>
            </a:pPr>
            <a:r>
              <a:rPr lang="en-US" sz="5600" b="1" dirty="0">
                <a:solidFill>
                  <a:srgbClr val="C00000"/>
                </a:solidFill>
                <a:latin typeface="Calibri" pitchFamily="34" charset="0"/>
                <a:ea typeface="Calibri" pitchFamily="34" charset="-122"/>
                <a:cs typeface="Calibri" pitchFamily="34" charset="-120"/>
              </a:rPr>
              <a:t>~80</a:t>
            </a:r>
            <a:endParaRPr lang="en-US" sz="5600" dirty="0"/>
          </a:p>
        </p:txBody>
      </p:sp>
      <p:sp>
        <p:nvSpPr>
          <p:cNvPr id="5" name="Text 2"/>
          <p:cNvSpPr/>
          <p:nvPr/>
        </p:nvSpPr>
        <p:spPr>
          <a:xfrm>
            <a:off x="548640" y="2697480"/>
            <a:ext cx="3337560" cy="640080"/>
          </a:xfrm>
          <a:prstGeom prst="rect">
            <a:avLst/>
          </a:prstGeom>
          <a:noFill/>
          <a:ln/>
        </p:spPr>
        <p:txBody>
          <a:bodyPr wrap="square" lIns="0" tIns="0" rIns="0" bIns="0" rtlCol="0" anchor="ctr"/>
          <a:lstStyle/>
          <a:p>
            <a:pPr marL="0" indent="0" algn="ctr">
              <a:buNone/>
            </a:pPr>
            <a:r>
              <a:rPr lang="en-US" sz="1300" dirty="0">
                <a:solidFill>
                  <a:srgbClr val="1A1A1A"/>
                </a:solidFill>
                <a:latin typeface="Calibri" pitchFamily="34" charset="0"/>
                <a:ea typeface="Calibri" pitchFamily="34" charset="-122"/>
                <a:cs typeface="Calibri" pitchFamily="34" charset="-120"/>
              </a:rPr>
              <a:t>Patents worldwide across topology, control, and AI estimation</a:t>
            </a:r>
            <a:endParaRPr lang="en-US" sz="1300" dirty="0"/>
          </a:p>
        </p:txBody>
      </p:sp>
      <p:sp>
        <p:nvSpPr>
          <p:cNvPr id="6" name="Text 3"/>
          <p:cNvSpPr/>
          <p:nvPr/>
        </p:nvSpPr>
        <p:spPr>
          <a:xfrm>
            <a:off x="4434840" y="1691640"/>
            <a:ext cx="3337560" cy="914400"/>
          </a:xfrm>
          <a:prstGeom prst="rect">
            <a:avLst/>
          </a:prstGeom>
          <a:noFill/>
          <a:ln/>
        </p:spPr>
        <p:txBody>
          <a:bodyPr wrap="square" lIns="0" tIns="0" rIns="0" bIns="0" rtlCol="0" anchor="ctr"/>
          <a:lstStyle/>
          <a:p>
            <a:pPr marL="0" indent="0" algn="ctr">
              <a:buNone/>
            </a:pPr>
            <a:r>
              <a:rPr lang="en-US" sz="5600" b="1" dirty="0">
                <a:solidFill>
                  <a:srgbClr val="C00000"/>
                </a:solidFill>
                <a:latin typeface="Calibri" pitchFamily="34" charset="0"/>
                <a:ea typeface="Calibri" pitchFamily="34" charset="-122"/>
                <a:cs typeface="Calibri" pitchFamily="34" charset="-120"/>
              </a:rPr>
              <a:t>Top 2%</a:t>
            </a:r>
            <a:endParaRPr lang="en-US" sz="5600" dirty="0"/>
          </a:p>
        </p:txBody>
      </p:sp>
      <p:sp>
        <p:nvSpPr>
          <p:cNvPr id="7" name="Text 4"/>
          <p:cNvSpPr/>
          <p:nvPr/>
        </p:nvSpPr>
        <p:spPr>
          <a:xfrm>
            <a:off x="4434840" y="2697480"/>
            <a:ext cx="3337560" cy="640080"/>
          </a:xfrm>
          <a:prstGeom prst="rect">
            <a:avLst/>
          </a:prstGeom>
          <a:noFill/>
          <a:ln/>
        </p:spPr>
        <p:txBody>
          <a:bodyPr wrap="square" lIns="0" tIns="0" rIns="0" bIns="0" rtlCol="0" anchor="ctr"/>
          <a:lstStyle/>
          <a:p>
            <a:pPr marL="0" indent="0" algn="ctr">
              <a:buNone/>
            </a:pPr>
            <a:r>
              <a:rPr lang="en-US" sz="1300" dirty="0">
                <a:solidFill>
                  <a:srgbClr val="1A1A1A"/>
                </a:solidFill>
                <a:latin typeface="Calibri" pitchFamily="34" charset="0"/>
                <a:ea typeface="Calibri" pitchFamily="34" charset="-122"/>
                <a:cs typeface="Calibri" pitchFamily="34" charset="-120"/>
              </a:rPr>
              <a:t>Team members in global Elsevier scientist rankings</a:t>
            </a:r>
            <a:endParaRPr lang="en-US" sz="1300" dirty="0"/>
          </a:p>
        </p:txBody>
      </p:sp>
      <p:sp>
        <p:nvSpPr>
          <p:cNvPr id="8" name="Text 5"/>
          <p:cNvSpPr/>
          <p:nvPr/>
        </p:nvSpPr>
        <p:spPr>
          <a:xfrm>
            <a:off x="8321040" y="1691640"/>
            <a:ext cx="3337560" cy="914400"/>
          </a:xfrm>
          <a:prstGeom prst="rect">
            <a:avLst/>
          </a:prstGeom>
          <a:noFill/>
          <a:ln/>
        </p:spPr>
        <p:txBody>
          <a:bodyPr wrap="square" lIns="0" tIns="0" rIns="0" bIns="0" rtlCol="0" anchor="ctr"/>
          <a:lstStyle/>
          <a:p>
            <a:pPr marL="0" indent="0" algn="ctr">
              <a:buNone/>
            </a:pPr>
            <a:r>
              <a:rPr lang="en-US" sz="5600" b="1" dirty="0">
                <a:solidFill>
                  <a:srgbClr val="C00000"/>
                </a:solidFill>
                <a:latin typeface="Calibri" pitchFamily="34" charset="0"/>
                <a:ea typeface="Calibri" pitchFamily="34" charset="-122"/>
                <a:cs typeface="Calibri" pitchFamily="34" charset="-120"/>
              </a:rPr>
              <a:t>Since 2006</a:t>
            </a:r>
            <a:endParaRPr lang="en-US" sz="5600" dirty="0"/>
          </a:p>
        </p:txBody>
      </p:sp>
      <p:sp>
        <p:nvSpPr>
          <p:cNvPr id="9" name="Text 6"/>
          <p:cNvSpPr/>
          <p:nvPr/>
        </p:nvSpPr>
        <p:spPr>
          <a:xfrm>
            <a:off x="8321040" y="2697480"/>
            <a:ext cx="3337560" cy="640080"/>
          </a:xfrm>
          <a:prstGeom prst="rect">
            <a:avLst/>
          </a:prstGeom>
          <a:noFill/>
          <a:ln/>
        </p:spPr>
        <p:txBody>
          <a:bodyPr wrap="square" lIns="0" tIns="0" rIns="0" bIns="0" rtlCol="0" anchor="ctr"/>
          <a:lstStyle/>
          <a:p>
            <a:pPr marL="0" indent="0" algn="ctr">
              <a:buNone/>
            </a:pPr>
            <a:r>
              <a:rPr lang="en-US" sz="1300" dirty="0">
                <a:solidFill>
                  <a:srgbClr val="1A1A1A"/>
                </a:solidFill>
                <a:latin typeface="Calibri" pitchFamily="34" charset="0"/>
                <a:ea typeface="Calibri" pitchFamily="34" charset="-122"/>
                <a:cs typeface="Calibri" pitchFamily="34" charset="-120"/>
              </a:rPr>
              <a:t>Active R&amp;D, spin-off of Bundeswehr University Munich</a:t>
            </a:r>
            <a:endParaRPr lang="en-US" sz="1300" dirty="0"/>
          </a:p>
        </p:txBody>
      </p:sp>
      <p:sp>
        <p:nvSpPr>
          <p:cNvPr id="10" name="Shape 7"/>
          <p:cNvSpPr/>
          <p:nvPr/>
        </p:nvSpPr>
        <p:spPr>
          <a:xfrm>
            <a:off x="548640" y="3611880"/>
            <a:ext cx="3337560" cy="2240280"/>
          </a:xfrm>
          <a:prstGeom prst="rect">
            <a:avLst/>
          </a:prstGeom>
          <a:solidFill>
            <a:srgbClr val="FFFFFF"/>
          </a:solidFill>
          <a:ln w="9525">
            <a:solidFill>
              <a:srgbClr val="C9C9C9"/>
            </a:solidFill>
            <a:prstDash val="solid"/>
          </a:ln>
        </p:spPr>
        <p:txBody>
          <a:bodyPr/>
          <a:lstStyle/>
          <a:p>
            <a:endParaRPr lang="en-GB"/>
          </a:p>
        </p:txBody>
      </p:sp>
      <p:sp>
        <p:nvSpPr>
          <p:cNvPr id="11" name="Shape 8"/>
          <p:cNvSpPr/>
          <p:nvPr/>
        </p:nvSpPr>
        <p:spPr>
          <a:xfrm>
            <a:off x="548640" y="3611880"/>
            <a:ext cx="3337560" cy="457200"/>
          </a:xfrm>
          <a:prstGeom prst="rect">
            <a:avLst/>
          </a:prstGeom>
          <a:solidFill>
            <a:srgbClr val="1F5878"/>
          </a:solidFill>
          <a:ln/>
        </p:spPr>
        <p:txBody>
          <a:bodyPr/>
          <a:lstStyle/>
          <a:p>
            <a:endParaRPr lang="en-GB"/>
          </a:p>
        </p:txBody>
      </p:sp>
      <p:sp>
        <p:nvSpPr>
          <p:cNvPr id="12" name="Text 9"/>
          <p:cNvSpPr/>
          <p:nvPr/>
        </p:nvSpPr>
        <p:spPr>
          <a:xfrm>
            <a:off x="548640" y="3611880"/>
            <a:ext cx="33375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Model 1: Technology License</a:t>
            </a:r>
            <a:endParaRPr lang="en-US" sz="1400" dirty="0"/>
          </a:p>
        </p:txBody>
      </p:sp>
      <p:sp>
        <p:nvSpPr>
          <p:cNvPr id="13" name="Text 10"/>
          <p:cNvSpPr/>
          <p:nvPr/>
        </p:nvSpPr>
        <p:spPr>
          <a:xfrm>
            <a:off x="731520" y="4206240"/>
            <a:ext cx="2971800" cy="100584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OEM integrates proven FEAAM IP into existing wheelbase, yoke, pedal, or actuator platforms.</a:t>
            </a:r>
            <a:endParaRPr lang="en-US" sz="1300" dirty="0"/>
          </a:p>
        </p:txBody>
      </p:sp>
      <p:sp>
        <p:nvSpPr>
          <p:cNvPr id="14" name="Shape 11"/>
          <p:cNvSpPr/>
          <p:nvPr/>
        </p:nvSpPr>
        <p:spPr>
          <a:xfrm>
            <a:off x="777240" y="5349240"/>
            <a:ext cx="2880360" cy="411480"/>
          </a:xfrm>
          <a:prstGeom prst="rect">
            <a:avLst/>
          </a:prstGeom>
          <a:solidFill>
            <a:srgbClr val="FFFFFF"/>
          </a:solidFill>
          <a:ln w="12700">
            <a:solidFill>
              <a:srgbClr val="1F5878"/>
            </a:solidFill>
            <a:prstDash val="solid"/>
          </a:ln>
        </p:spPr>
        <p:txBody>
          <a:bodyPr/>
          <a:lstStyle/>
          <a:p>
            <a:endParaRPr lang="en-GB"/>
          </a:p>
        </p:txBody>
      </p:sp>
      <p:sp>
        <p:nvSpPr>
          <p:cNvPr id="15" name="Text 12"/>
          <p:cNvSpPr/>
          <p:nvPr/>
        </p:nvSpPr>
        <p:spPr>
          <a:xfrm>
            <a:off x="777240" y="5349240"/>
            <a:ext cx="2880360" cy="411480"/>
          </a:xfrm>
          <a:prstGeom prst="rect">
            <a:avLst/>
          </a:prstGeom>
          <a:noFill/>
          <a:ln/>
        </p:spPr>
        <p:txBody>
          <a:bodyPr wrap="square" lIns="0" tIns="0" rIns="0" bIns="0" rtlCol="0" anchor="ctr"/>
          <a:lstStyle/>
          <a:p>
            <a:pPr marL="0" indent="0" algn="ctr">
              <a:buNone/>
            </a:pPr>
            <a:r>
              <a:rPr lang="en-US" sz="1300" b="1" dirty="0">
                <a:solidFill>
                  <a:srgbClr val="1F5878"/>
                </a:solidFill>
                <a:latin typeface="Calibri" pitchFamily="34" charset="0"/>
                <a:ea typeface="Calibri" pitchFamily="34" charset="-122"/>
                <a:cs typeface="Calibri" pitchFamily="34" charset="-120"/>
              </a:rPr>
              <a:t>3 to 6 months to design files</a:t>
            </a:r>
            <a:endParaRPr lang="en-US" sz="1300" dirty="0"/>
          </a:p>
        </p:txBody>
      </p:sp>
      <p:sp>
        <p:nvSpPr>
          <p:cNvPr id="16" name="Shape 13"/>
          <p:cNvSpPr/>
          <p:nvPr/>
        </p:nvSpPr>
        <p:spPr>
          <a:xfrm>
            <a:off x="4434840" y="3611880"/>
            <a:ext cx="3337560" cy="2240280"/>
          </a:xfrm>
          <a:prstGeom prst="rect">
            <a:avLst/>
          </a:prstGeom>
          <a:solidFill>
            <a:srgbClr val="FFFFFF"/>
          </a:solidFill>
          <a:ln w="9525">
            <a:solidFill>
              <a:srgbClr val="C9C9C9"/>
            </a:solidFill>
            <a:prstDash val="solid"/>
          </a:ln>
        </p:spPr>
        <p:txBody>
          <a:bodyPr/>
          <a:lstStyle/>
          <a:p>
            <a:endParaRPr lang="en-GB"/>
          </a:p>
        </p:txBody>
      </p:sp>
      <p:sp>
        <p:nvSpPr>
          <p:cNvPr id="17" name="Shape 14"/>
          <p:cNvSpPr/>
          <p:nvPr/>
        </p:nvSpPr>
        <p:spPr>
          <a:xfrm>
            <a:off x="4434840" y="3611880"/>
            <a:ext cx="3337560" cy="457200"/>
          </a:xfrm>
          <a:prstGeom prst="rect">
            <a:avLst/>
          </a:prstGeom>
          <a:solidFill>
            <a:srgbClr val="1F5878"/>
          </a:solidFill>
          <a:ln/>
        </p:spPr>
        <p:txBody>
          <a:bodyPr/>
          <a:lstStyle/>
          <a:p>
            <a:endParaRPr lang="en-GB"/>
          </a:p>
        </p:txBody>
      </p:sp>
      <p:sp>
        <p:nvSpPr>
          <p:cNvPr id="18" name="Text 15"/>
          <p:cNvSpPr/>
          <p:nvPr/>
        </p:nvSpPr>
        <p:spPr>
          <a:xfrm>
            <a:off x="4434840" y="3611880"/>
            <a:ext cx="33375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Model 2: Joint Development</a:t>
            </a:r>
            <a:endParaRPr lang="en-US" sz="1400" dirty="0"/>
          </a:p>
        </p:txBody>
      </p:sp>
      <p:sp>
        <p:nvSpPr>
          <p:cNvPr id="19" name="Text 16"/>
          <p:cNvSpPr/>
          <p:nvPr/>
        </p:nvSpPr>
        <p:spPr>
          <a:xfrm>
            <a:off x="4617720" y="4206240"/>
            <a:ext cx="2971800" cy="100584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FEAAM designs a bespoke, validated actuator for a specific FFB form factor and torque target.</a:t>
            </a:r>
            <a:endParaRPr lang="en-US" sz="1300" dirty="0"/>
          </a:p>
        </p:txBody>
      </p:sp>
      <p:sp>
        <p:nvSpPr>
          <p:cNvPr id="20" name="Shape 17"/>
          <p:cNvSpPr/>
          <p:nvPr/>
        </p:nvSpPr>
        <p:spPr>
          <a:xfrm>
            <a:off x="4663440" y="5349240"/>
            <a:ext cx="2880360" cy="411480"/>
          </a:xfrm>
          <a:prstGeom prst="rect">
            <a:avLst/>
          </a:prstGeom>
          <a:solidFill>
            <a:srgbClr val="FFFFFF"/>
          </a:solidFill>
          <a:ln w="12700">
            <a:solidFill>
              <a:srgbClr val="1F5878"/>
            </a:solidFill>
            <a:prstDash val="solid"/>
          </a:ln>
        </p:spPr>
        <p:txBody>
          <a:bodyPr/>
          <a:lstStyle/>
          <a:p>
            <a:endParaRPr lang="en-GB"/>
          </a:p>
        </p:txBody>
      </p:sp>
      <p:sp>
        <p:nvSpPr>
          <p:cNvPr id="21" name="Text 18"/>
          <p:cNvSpPr/>
          <p:nvPr/>
        </p:nvSpPr>
        <p:spPr>
          <a:xfrm>
            <a:off x="4663440" y="5349240"/>
            <a:ext cx="2880360" cy="411480"/>
          </a:xfrm>
          <a:prstGeom prst="rect">
            <a:avLst/>
          </a:prstGeom>
          <a:noFill/>
          <a:ln/>
        </p:spPr>
        <p:txBody>
          <a:bodyPr wrap="square" lIns="0" tIns="0" rIns="0" bIns="0" rtlCol="0" anchor="ctr"/>
          <a:lstStyle/>
          <a:p>
            <a:pPr marL="0" indent="0" algn="ctr">
              <a:buNone/>
            </a:pPr>
            <a:r>
              <a:rPr lang="en-US" sz="1300" b="1" dirty="0">
                <a:solidFill>
                  <a:srgbClr val="1F5878"/>
                </a:solidFill>
                <a:latin typeface="Calibri" pitchFamily="34" charset="0"/>
                <a:ea typeface="Calibri" pitchFamily="34" charset="-122"/>
                <a:cs typeface="Calibri" pitchFamily="34" charset="-120"/>
              </a:rPr>
              <a:t>9 to 18 months</a:t>
            </a:r>
            <a:endParaRPr lang="en-US" sz="1300" dirty="0"/>
          </a:p>
        </p:txBody>
      </p:sp>
      <p:sp>
        <p:nvSpPr>
          <p:cNvPr id="22" name="Shape 19"/>
          <p:cNvSpPr/>
          <p:nvPr/>
        </p:nvSpPr>
        <p:spPr>
          <a:xfrm>
            <a:off x="8321040" y="3611880"/>
            <a:ext cx="3337560" cy="2240280"/>
          </a:xfrm>
          <a:prstGeom prst="rect">
            <a:avLst/>
          </a:prstGeom>
          <a:solidFill>
            <a:srgbClr val="FFFFFF"/>
          </a:solidFill>
          <a:ln w="9525">
            <a:solidFill>
              <a:srgbClr val="C9C9C9"/>
            </a:solidFill>
            <a:prstDash val="solid"/>
          </a:ln>
        </p:spPr>
        <p:txBody>
          <a:bodyPr/>
          <a:lstStyle/>
          <a:p>
            <a:endParaRPr lang="en-GB"/>
          </a:p>
        </p:txBody>
      </p:sp>
      <p:sp>
        <p:nvSpPr>
          <p:cNvPr id="23" name="Shape 20"/>
          <p:cNvSpPr/>
          <p:nvPr/>
        </p:nvSpPr>
        <p:spPr>
          <a:xfrm>
            <a:off x="8321040" y="3611880"/>
            <a:ext cx="3337560" cy="457200"/>
          </a:xfrm>
          <a:prstGeom prst="rect">
            <a:avLst/>
          </a:prstGeom>
          <a:solidFill>
            <a:srgbClr val="1F5878"/>
          </a:solidFill>
          <a:ln/>
        </p:spPr>
        <p:txBody>
          <a:bodyPr/>
          <a:lstStyle/>
          <a:p>
            <a:endParaRPr lang="en-GB"/>
          </a:p>
        </p:txBody>
      </p:sp>
      <p:sp>
        <p:nvSpPr>
          <p:cNvPr id="24" name="Text 21"/>
          <p:cNvSpPr/>
          <p:nvPr/>
        </p:nvSpPr>
        <p:spPr>
          <a:xfrm>
            <a:off x="8321040" y="3611880"/>
            <a:ext cx="33375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Model 3: Sample / Pilot</a:t>
            </a:r>
            <a:endParaRPr lang="en-US" sz="1400" dirty="0"/>
          </a:p>
        </p:txBody>
      </p:sp>
      <p:sp>
        <p:nvSpPr>
          <p:cNvPr id="25" name="Text 22"/>
          <p:cNvSpPr/>
          <p:nvPr/>
        </p:nvSpPr>
        <p:spPr>
          <a:xfrm>
            <a:off x="8503920" y="4206240"/>
            <a:ext cx="2971800" cy="100584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Validate FEAAM technology on a reference test bench or prototype before full platform commitment.</a:t>
            </a:r>
            <a:endParaRPr lang="en-US" sz="1300" dirty="0"/>
          </a:p>
        </p:txBody>
      </p:sp>
      <p:sp>
        <p:nvSpPr>
          <p:cNvPr id="26" name="Shape 23"/>
          <p:cNvSpPr/>
          <p:nvPr/>
        </p:nvSpPr>
        <p:spPr>
          <a:xfrm>
            <a:off x="8549640" y="5349240"/>
            <a:ext cx="2880360" cy="411480"/>
          </a:xfrm>
          <a:prstGeom prst="rect">
            <a:avLst/>
          </a:prstGeom>
          <a:solidFill>
            <a:srgbClr val="FFFFFF"/>
          </a:solidFill>
          <a:ln w="12700">
            <a:solidFill>
              <a:srgbClr val="1F5878"/>
            </a:solidFill>
            <a:prstDash val="solid"/>
          </a:ln>
        </p:spPr>
        <p:txBody>
          <a:bodyPr/>
          <a:lstStyle/>
          <a:p>
            <a:endParaRPr lang="en-GB"/>
          </a:p>
        </p:txBody>
      </p:sp>
      <p:sp>
        <p:nvSpPr>
          <p:cNvPr id="27" name="Text 24"/>
          <p:cNvSpPr/>
          <p:nvPr/>
        </p:nvSpPr>
        <p:spPr>
          <a:xfrm>
            <a:off x="8549640" y="5349240"/>
            <a:ext cx="2880360" cy="411480"/>
          </a:xfrm>
          <a:prstGeom prst="rect">
            <a:avLst/>
          </a:prstGeom>
          <a:noFill/>
          <a:ln/>
        </p:spPr>
        <p:txBody>
          <a:bodyPr wrap="square" lIns="0" tIns="0" rIns="0" bIns="0" rtlCol="0" anchor="ctr"/>
          <a:lstStyle/>
          <a:p>
            <a:pPr marL="0" indent="0" algn="ctr">
              <a:buNone/>
            </a:pPr>
            <a:r>
              <a:rPr lang="en-US" sz="1300" b="1" dirty="0">
                <a:solidFill>
                  <a:srgbClr val="1F5878"/>
                </a:solidFill>
                <a:latin typeface="Calibri" pitchFamily="34" charset="0"/>
                <a:ea typeface="Calibri" pitchFamily="34" charset="-122"/>
                <a:cs typeface="Calibri" pitchFamily="34" charset="-120"/>
              </a:rPr>
              <a:t>3 to 6 months</a:t>
            </a:r>
            <a:endParaRPr lang="en-US" sz="1300" dirty="0"/>
          </a:p>
        </p:txBody>
      </p:sp>
      <p:sp>
        <p:nvSpPr>
          <p:cNvPr id="30" name="Text 27"/>
          <p:cNvSpPr/>
          <p:nvPr/>
        </p:nvSpPr>
        <p:spPr>
          <a:xfrm>
            <a:off x="5852160" y="6510528"/>
            <a:ext cx="457200" cy="274320"/>
          </a:xfrm>
          <a:prstGeom prst="rect">
            <a:avLst/>
          </a:prstGeom>
          <a:noFill/>
          <a:ln/>
        </p:spPr>
        <p:txBody>
          <a:bodyPr wrap="square" rtlCol="0" anchor="ctr"/>
          <a:lstStyle/>
          <a:p>
            <a:pPr marL="0" indent="0" algn="ctr">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31" name="Text 28"/>
          <p:cNvSpPr/>
          <p:nvPr/>
        </p:nvSpPr>
        <p:spPr>
          <a:xfrm>
            <a:off x="2468880" y="6236208"/>
            <a:ext cx="7315200" cy="274320"/>
          </a:xfrm>
          <a:prstGeom prst="rect">
            <a:avLst/>
          </a:prstGeom>
          <a:noFill/>
          <a:ln/>
        </p:spPr>
        <p:txBody>
          <a:bodyPr wrap="square" lIns="0" tIns="0" rIns="0" bIns="0" rtlCol="0" anchor="ctr"/>
          <a:lstStyle/>
          <a:p>
            <a:pPr marL="0" indent="0" algn="ctr">
              <a:buNone/>
            </a:pPr>
            <a:r>
              <a:rPr lang="en-US" sz="1200" dirty="0">
                <a:solidFill>
                  <a:srgbClr val="595959"/>
                </a:solidFill>
                <a:latin typeface="Calibri" pitchFamily="34" charset="0"/>
                <a:ea typeface="Calibri" pitchFamily="34" charset="-122"/>
                <a:cs typeface="Calibri" pitchFamily="34" charset="-120"/>
              </a:rPr>
              <a:t/>
            </a:r>
            <a:endParaRPr lang="en-US" sz="1200" dirty="0"/>
          </a:p>
        </p:txBody>
      </p:sp>
      <p:sp>
        <p:nvSpPr>
          <p:cNvPr id="32" name="Text 29"/>
          <p:cNvSpPr/>
          <p:nvPr/>
        </p:nvSpPr>
        <p:spPr>
          <a:xfrm>
            <a:off x="10058400" y="6263640"/>
            <a:ext cx="2011680" cy="320040"/>
          </a:xfrm>
          <a:prstGeom prst="rect">
            <a:avLst/>
          </a:prstGeom>
          <a:noFill/>
          <a:ln/>
        </p:spPr>
        <p:txBody>
          <a:bodyPr wrap="square" rtlCol="0" anchor="ctr"/>
          <a:lstStyle/>
          <a:p>
            <a:pPr marL="0" indent="0" algn="r">
              <a:buNone/>
            </a:pPr>
            <a:r>
              <a:rPr lang="en-US" sz="1300" i="1" dirty="0">
                <a:solidFill>
                  <a:srgbClr val="1F5878"/>
                </a:solidFill>
                <a:latin typeface="Calibri" pitchFamily="34" charset="0"/>
                <a:ea typeface="Calibri" pitchFamily="34" charset="-122"/>
                <a:cs typeface="Calibri" pitchFamily="34" charset="-120"/>
              </a:rPr>
              <a:t>Drive Innovations</a:t>
            </a:r>
            <a:endParaRPr lang="en-US" sz="1300" dirty="0"/>
          </a:p>
        </p:txBody>
      </p:sp>
      <p:sp>
        <p:nvSpPr>
          <p:cNvPr id="33" name="Shape 18">
            <a:extLst>
              <a:ext uri="{FF2B5EF4-FFF2-40B4-BE49-F238E27FC236}">
                <a16:creationId xmlns:a16="http://schemas.microsoft.com/office/drawing/2014/main" id="{EE19037F-BB93-9BD7-7A7B-7CBD342ADE66}"/>
              </a:ext>
            </a:extLst>
          </p:cNvPr>
          <p:cNvSpPr/>
          <p:nvPr/>
        </p:nvSpPr>
        <p:spPr>
          <a:xfrm>
            <a:off x="0" y="6355080"/>
            <a:ext cx="2743200" cy="502920"/>
          </a:xfrm>
          <a:prstGeom prst="rtTriangle">
            <a:avLst/>
          </a:prstGeom>
          <a:solidFill>
            <a:srgbClr val="1F5878"/>
          </a:solidFill>
          <a:ln w="12700">
            <a:solidFill>
              <a:srgbClr val="1F5878"/>
            </a:solidFill>
            <a:prstDash val="solid"/>
          </a:ln>
        </p:spPr>
        <p:txBody>
          <a:bodyPr/>
          <a:lstStyle/>
          <a:p>
            <a:endParaRPr lang="en-GB"/>
          </a:p>
        </p:txBody>
      </p:sp>
      <p:sp>
        <p:nvSpPr>
          <p:cNvPr id="34" name="Shape 19">
            <a:extLst>
              <a:ext uri="{FF2B5EF4-FFF2-40B4-BE49-F238E27FC236}">
                <a16:creationId xmlns:a16="http://schemas.microsoft.com/office/drawing/2014/main" id="{A628119F-7C44-DA86-1F45-B2439EEA45BC}"/>
              </a:ext>
            </a:extLst>
          </p:cNvPr>
          <p:cNvSpPr/>
          <p:nvPr/>
        </p:nvSpPr>
        <p:spPr>
          <a:xfrm flipH="1">
            <a:off x="7772400" y="6581775"/>
            <a:ext cx="4419600" cy="276225"/>
          </a:xfrm>
          <a:prstGeom prst="rtTriangle">
            <a:avLst/>
          </a:prstGeom>
          <a:solidFill>
            <a:srgbClr val="B7CFDC"/>
          </a:solidFill>
          <a:ln w="12700">
            <a:solidFill>
              <a:srgbClr val="B7CFDC"/>
            </a:solidFill>
            <a:prstDash val="solid"/>
          </a:ln>
        </p:spPr>
        <p:txBody>
          <a:bodyPr/>
          <a:lstStyle/>
          <a:p>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feaam_header.png"/>
          <p:cNvPicPr>
            <a:picLocks noChangeAspect="1"/>
          </p:cNvPicPr>
          <p:nvPr/>
        </p:nvPicPr>
        <p:blipFill>
          <a:blip r:embed="rId3"/>
          <a:stretch>
            <a:fillRect/>
          </a:stretch>
        </p:blipFill>
        <p:spPr>
          <a:xfrm>
            <a:off x="0" y="0"/>
            <a:ext cx="12161520" cy="822960"/>
          </a:xfrm>
          <a:prstGeom prst="rect">
            <a:avLst/>
          </a:prstGeom>
        </p:spPr>
      </p:pic>
      <p:sp>
        <p:nvSpPr>
          <p:cNvPr id="3" name="Text 0"/>
          <p:cNvSpPr/>
          <p:nvPr/>
        </p:nvSpPr>
        <p:spPr>
          <a:xfrm>
            <a:off x="457200" y="914400"/>
            <a:ext cx="11247120" cy="640080"/>
          </a:xfrm>
          <a:prstGeom prst="rect">
            <a:avLst/>
          </a:prstGeom>
          <a:noFill/>
          <a:ln/>
        </p:spPr>
        <p:txBody>
          <a:bodyPr wrap="square" lIns="0" tIns="0" rIns="0" bIns="0" rtlCol="0" anchor="ctr"/>
          <a:lstStyle/>
          <a:p>
            <a:pPr marL="0" indent="0" algn="ctr">
              <a:buNone/>
            </a:pPr>
            <a:r>
              <a:rPr lang="en-US" sz="3000" dirty="0">
                <a:solidFill>
                  <a:srgbClr val="1F5878"/>
                </a:solidFill>
                <a:latin typeface="Calibri" pitchFamily="34" charset="0"/>
                <a:ea typeface="Calibri" pitchFamily="34" charset="-122"/>
                <a:cs typeface="Calibri" pitchFamily="34" charset="-120"/>
              </a:rPr>
              <a:t>Why FEAAM for Force-Feedback Actuators</a:t>
            </a:r>
            <a:endParaRPr lang="en-US" sz="3000" dirty="0"/>
          </a:p>
        </p:txBody>
      </p:sp>
      <p:sp>
        <p:nvSpPr>
          <p:cNvPr id="4" name="Shape 1"/>
          <p:cNvSpPr/>
          <p:nvPr/>
        </p:nvSpPr>
        <p:spPr>
          <a:xfrm>
            <a:off x="457200" y="1783080"/>
            <a:ext cx="11338560" cy="960120"/>
          </a:xfrm>
          <a:prstGeom prst="rect">
            <a:avLst/>
          </a:prstGeom>
          <a:solidFill>
            <a:srgbClr val="F5F8FA"/>
          </a:solidFill>
          <a:ln/>
        </p:spPr>
        <p:txBody>
          <a:bodyPr/>
          <a:lstStyle/>
          <a:p>
            <a:endParaRPr lang="en-GB"/>
          </a:p>
        </p:txBody>
      </p:sp>
      <p:sp>
        <p:nvSpPr>
          <p:cNvPr id="5" name="Shape 2"/>
          <p:cNvSpPr/>
          <p:nvPr/>
        </p:nvSpPr>
        <p:spPr>
          <a:xfrm>
            <a:off x="457200" y="1783080"/>
            <a:ext cx="73152" cy="960120"/>
          </a:xfrm>
          <a:prstGeom prst="rect">
            <a:avLst/>
          </a:prstGeom>
          <a:solidFill>
            <a:srgbClr val="C00000"/>
          </a:solidFill>
          <a:ln/>
        </p:spPr>
        <p:txBody>
          <a:bodyPr/>
          <a:lstStyle/>
          <a:p>
            <a:endParaRPr lang="en-GB"/>
          </a:p>
        </p:txBody>
      </p:sp>
      <p:sp>
        <p:nvSpPr>
          <p:cNvPr id="6" name="Text 3"/>
          <p:cNvSpPr/>
          <p:nvPr/>
        </p:nvSpPr>
        <p:spPr>
          <a:xfrm>
            <a:off x="685800" y="1874520"/>
            <a:ext cx="2194560" cy="77724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Smooth, Linear</a:t>
            </a:r>
            <a:endParaRPr lang="en-US" sz="1400" dirty="0"/>
          </a:p>
          <a:p>
            <a:pPr marL="0" indent="0">
              <a:buNone/>
            </a:pPr>
            <a:r>
              <a:rPr lang="en-US" sz="1400" b="1" dirty="0">
                <a:solidFill>
                  <a:srgbClr val="1A1A1A"/>
                </a:solidFill>
                <a:latin typeface="Calibri" pitchFamily="34" charset="0"/>
                <a:ea typeface="Calibri" pitchFamily="34" charset="-122"/>
                <a:cs typeface="Calibri" pitchFamily="34" charset="-120"/>
              </a:rPr>
              <a:t>FFB Response</a:t>
            </a:r>
            <a:endParaRPr lang="en-US" sz="1400" dirty="0"/>
          </a:p>
        </p:txBody>
      </p:sp>
      <p:sp>
        <p:nvSpPr>
          <p:cNvPr id="7" name="Text 4"/>
          <p:cNvSpPr/>
          <p:nvPr/>
        </p:nvSpPr>
        <p:spPr>
          <a:xfrm>
            <a:off x="2926080" y="1874520"/>
            <a:ext cx="2743200" cy="77724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Loss Reduction &amp; Torque Ripple Optimization</a:t>
            </a:r>
            <a:endParaRPr lang="en-US" sz="1300" dirty="0"/>
          </a:p>
          <a:p>
            <a:pPr marL="0" indent="0">
              <a:buNone/>
            </a:pPr>
            <a:r>
              <a:rPr lang="en-US" sz="1100" i="1" dirty="0">
                <a:solidFill>
                  <a:srgbClr val="595959"/>
                </a:solidFill>
                <a:latin typeface="Calibri" pitchFamily="34" charset="0"/>
                <a:ea typeface="Calibri" pitchFamily="34" charset="-122"/>
                <a:cs typeface="Calibri" pitchFamily="34" charset="-120"/>
              </a:rPr>
              <a:t>Published FEAAM research</a:t>
            </a:r>
            <a:endParaRPr lang="en-US" sz="1300" dirty="0"/>
          </a:p>
        </p:txBody>
      </p:sp>
      <p:sp>
        <p:nvSpPr>
          <p:cNvPr id="8" name="Text 5"/>
          <p:cNvSpPr/>
          <p:nvPr/>
        </p:nvSpPr>
        <p:spPr>
          <a:xfrm>
            <a:off x="5806440" y="1874520"/>
            <a:ext cx="5943600" cy="777240"/>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Validated reductions in parasitic harmonics translate directly to lower torque ripple and lower cogging, the two characteristics most cited by FFB users as the difference between 'industrial servo feel' and true direct-drive fidelity.</a:t>
            </a:r>
            <a:endParaRPr lang="en-US" sz="1150" dirty="0"/>
          </a:p>
        </p:txBody>
      </p:sp>
      <p:sp>
        <p:nvSpPr>
          <p:cNvPr id="9" name="Shape 6"/>
          <p:cNvSpPr/>
          <p:nvPr/>
        </p:nvSpPr>
        <p:spPr>
          <a:xfrm>
            <a:off x="457200" y="2816352"/>
            <a:ext cx="11338560" cy="960120"/>
          </a:xfrm>
          <a:prstGeom prst="rect">
            <a:avLst/>
          </a:prstGeom>
          <a:solidFill>
            <a:srgbClr val="F5F8FA"/>
          </a:solidFill>
          <a:ln/>
        </p:spPr>
        <p:txBody>
          <a:bodyPr/>
          <a:lstStyle/>
          <a:p>
            <a:endParaRPr lang="en-GB"/>
          </a:p>
        </p:txBody>
      </p:sp>
      <p:sp>
        <p:nvSpPr>
          <p:cNvPr id="10" name="Shape 7"/>
          <p:cNvSpPr/>
          <p:nvPr/>
        </p:nvSpPr>
        <p:spPr>
          <a:xfrm>
            <a:off x="457200" y="2816352"/>
            <a:ext cx="73152" cy="960120"/>
          </a:xfrm>
          <a:prstGeom prst="rect">
            <a:avLst/>
          </a:prstGeom>
          <a:solidFill>
            <a:srgbClr val="C00000"/>
          </a:solidFill>
          <a:ln/>
        </p:spPr>
        <p:txBody>
          <a:bodyPr/>
          <a:lstStyle/>
          <a:p>
            <a:endParaRPr lang="en-GB"/>
          </a:p>
        </p:txBody>
      </p:sp>
      <p:sp>
        <p:nvSpPr>
          <p:cNvPr id="11" name="Text 8"/>
          <p:cNvSpPr/>
          <p:nvPr/>
        </p:nvSpPr>
        <p:spPr>
          <a:xfrm>
            <a:off x="685800" y="2907792"/>
            <a:ext cx="2194560" cy="77724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Torque Density</a:t>
            </a:r>
            <a:endParaRPr lang="en-US" sz="1400" dirty="0"/>
          </a:p>
          <a:p>
            <a:pPr marL="0" indent="0">
              <a:buNone/>
            </a:pPr>
            <a:r>
              <a:rPr lang="en-US" sz="1400" b="1" dirty="0">
                <a:solidFill>
                  <a:srgbClr val="1A1A1A"/>
                </a:solidFill>
                <a:latin typeface="Calibri" pitchFamily="34" charset="0"/>
                <a:ea typeface="Calibri" pitchFamily="34" charset="-122"/>
                <a:cs typeface="Calibri" pitchFamily="34" charset="-120"/>
              </a:rPr>
              <a:t>in a Small Footprint</a:t>
            </a:r>
            <a:endParaRPr lang="en-US" sz="1400" dirty="0"/>
          </a:p>
        </p:txBody>
      </p:sp>
      <p:sp>
        <p:nvSpPr>
          <p:cNvPr id="12" name="Text 9"/>
          <p:cNvSpPr/>
          <p:nvPr/>
        </p:nvSpPr>
        <p:spPr>
          <a:xfrm>
            <a:off x="2926080" y="2907792"/>
            <a:ext cx="2743200" cy="77724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FSCW + Flux-Barrier</a:t>
            </a:r>
            <a:endParaRPr lang="en-US" sz="1300" dirty="0"/>
          </a:p>
          <a:p>
            <a:pPr marL="0" indent="0">
              <a:buNone/>
            </a:pPr>
            <a:r>
              <a:rPr lang="en-US" sz="1100" i="1" dirty="0">
                <a:solidFill>
                  <a:srgbClr val="595959"/>
                </a:solidFill>
                <a:latin typeface="Calibri" pitchFamily="34" charset="0"/>
                <a:ea typeface="Calibri" pitchFamily="34" charset="-122"/>
                <a:cs typeface="Calibri" pitchFamily="34" charset="-120"/>
              </a:rPr>
              <a:t>Direct-drive geometry</a:t>
            </a:r>
            <a:endParaRPr lang="en-US" sz="1300" dirty="0"/>
          </a:p>
        </p:txBody>
      </p:sp>
      <p:sp>
        <p:nvSpPr>
          <p:cNvPr id="13" name="Text 10"/>
          <p:cNvSpPr/>
          <p:nvPr/>
        </p:nvSpPr>
        <p:spPr>
          <a:xfrm>
            <a:off x="5806440" y="2907792"/>
            <a:ext cx="5943600" cy="777240"/>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Fractional-slot concentrated winding and flux-barrier topology support the torque-per-volume needed to replace belt-reduction with direct drive, fitting into desk-pit and integrated cockpit dimensions where bulky industrial motors will not.</a:t>
            </a:r>
            <a:endParaRPr lang="en-US" sz="1150" dirty="0"/>
          </a:p>
        </p:txBody>
      </p:sp>
      <p:sp>
        <p:nvSpPr>
          <p:cNvPr id="14" name="Shape 11"/>
          <p:cNvSpPr/>
          <p:nvPr/>
        </p:nvSpPr>
        <p:spPr>
          <a:xfrm>
            <a:off x="457200" y="3849624"/>
            <a:ext cx="11338560" cy="960120"/>
          </a:xfrm>
          <a:prstGeom prst="rect">
            <a:avLst/>
          </a:prstGeom>
          <a:solidFill>
            <a:srgbClr val="F5F8FA"/>
          </a:solidFill>
          <a:ln/>
        </p:spPr>
        <p:txBody>
          <a:bodyPr/>
          <a:lstStyle/>
          <a:p>
            <a:endParaRPr lang="en-GB"/>
          </a:p>
        </p:txBody>
      </p:sp>
      <p:sp>
        <p:nvSpPr>
          <p:cNvPr id="15" name="Shape 12"/>
          <p:cNvSpPr/>
          <p:nvPr/>
        </p:nvSpPr>
        <p:spPr>
          <a:xfrm>
            <a:off x="457200" y="3849624"/>
            <a:ext cx="73152" cy="960120"/>
          </a:xfrm>
          <a:prstGeom prst="rect">
            <a:avLst/>
          </a:prstGeom>
          <a:solidFill>
            <a:srgbClr val="C00000"/>
          </a:solidFill>
          <a:ln/>
        </p:spPr>
        <p:txBody>
          <a:bodyPr/>
          <a:lstStyle/>
          <a:p>
            <a:endParaRPr lang="en-GB"/>
          </a:p>
        </p:txBody>
      </p:sp>
      <p:sp>
        <p:nvSpPr>
          <p:cNvPr id="16" name="Text 13"/>
          <p:cNvSpPr/>
          <p:nvPr/>
        </p:nvSpPr>
        <p:spPr>
          <a:xfrm>
            <a:off x="685800" y="3941064"/>
            <a:ext cx="2194560" cy="77724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Thermal Margin</a:t>
            </a:r>
            <a:endParaRPr lang="en-US" sz="1400" dirty="0"/>
          </a:p>
          <a:p>
            <a:pPr marL="0" indent="0">
              <a:buNone/>
            </a:pPr>
            <a:r>
              <a:rPr lang="en-US" sz="1400" b="1" dirty="0">
                <a:solidFill>
                  <a:srgbClr val="1A1A1A"/>
                </a:solidFill>
                <a:latin typeface="Calibri" pitchFamily="34" charset="0"/>
                <a:ea typeface="Calibri" pitchFamily="34" charset="-122"/>
                <a:cs typeface="Calibri" pitchFamily="34" charset="-120"/>
              </a:rPr>
              <a:t>for Long Sessions</a:t>
            </a:r>
            <a:endParaRPr lang="en-US" sz="1400" dirty="0"/>
          </a:p>
        </p:txBody>
      </p:sp>
      <p:sp>
        <p:nvSpPr>
          <p:cNvPr id="17" name="Text 14"/>
          <p:cNvSpPr/>
          <p:nvPr/>
        </p:nvSpPr>
        <p:spPr>
          <a:xfrm>
            <a:off x="2926080" y="3941064"/>
            <a:ext cx="2743200" cy="77724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Integrated Cooling Concepts</a:t>
            </a:r>
            <a:endParaRPr lang="en-US" sz="1300" dirty="0"/>
          </a:p>
          <a:p>
            <a:pPr marL="0" indent="0">
              <a:buNone/>
            </a:pPr>
            <a:r>
              <a:rPr lang="en-US" sz="1100" i="1" dirty="0">
                <a:solidFill>
                  <a:srgbClr val="595959"/>
                </a:solidFill>
                <a:latin typeface="Calibri" pitchFamily="34" charset="0"/>
                <a:ea typeface="Calibri" pitchFamily="34" charset="-122"/>
                <a:cs typeface="Calibri" pitchFamily="34" charset="-120"/>
              </a:rPr>
              <a:t>Published FEAAM research</a:t>
            </a:r>
            <a:endParaRPr lang="en-US" sz="1300" dirty="0"/>
          </a:p>
        </p:txBody>
      </p:sp>
      <p:sp>
        <p:nvSpPr>
          <p:cNvPr id="18" name="Text 15"/>
          <p:cNvSpPr/>
          <p:nvPr/>
        </p:nvSpPr>
        <p:spPr>
          <a:xfrm>
            <a:off x="5806440" y="3941064"/>
            <a:ext cx="5943600" cy="777240"/>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Improved efficiency at partial and stall load reduces heat generation during long flight and racing sessions, supporting fanless operation in compact, unventilated housings.</a:t>
            </a:r>
            <a:endParaRPr lang="en-US" sz="1150" dirty="0"/>
          </a:p>
        </p:txBody>
      </p:sp>
      <p:sp>
        <p:nvSpPr>
          <p:cNvPr id="19" name="Shape 16"/>
          <p:cNvSpPr/>
          <p:nvPr/>
        </p:nvSpPr>
        <p:spPr>
          <a:xfrm>
            <a:off x="457200" y="4882896"/>
            <a:ext cx="11338560" cy="960120"/>
          </a:xfrm>
          <a:prstGeom prst="rect">
            <a:avLst/>
          </a:prstGeom>
          <a:solidFill>
            <a:srgbClr val="F5F8FA"/>
          </a:solidFill>
          <a:ln/>
        </p:spPr>
        <p:txBody>
          <a:bodyPr/>
          <a:lstStyle/>
          <a:p>
            <a:endParaRPr lang="en-GB"/>
          </a:p>
        </p:txBody>
      </p:sp>
      <p:sp>
        <p:nvSpPr>
          <p:cNvPr id="20" name="Shape 17"/>
          <p:cNvSpPr/>
          <p:nvPr/>
        </p:nvSpPr>
        <p:spPr>
          <a:xfrm>
            <a:off x="457200" y="4882896"/>
            <a:ext cx="73152" cy="960120"/>
          </a:xfrm>
          <a:prstGeom prst="rect">
            <a:avLst/>
          </a:prstGeom>
          <a:solidFill>
            <a:srgbClr val="C00000"/>
          </a:solidFill>
          <a:ln/>
        </p:spPr>
        <p:txBody>
          <a:bodyPr/>
          <a:lstStyle/>
          <a:p>
            <a:endParaRPr lang="en-GB"/>
          </a:p>
        </p:txBody>
      </p:sp>
      <p:sp>
        <p:nvSpPr>
          <p:cNvPr id="21" name="Text 18"/>
          <p:cNvSpPr/>
          <p:nvPr/>
        </p:nvSpPr>
        <p:spPr>
          <a:xfrm>
            <a:off x="685800" y="4974336"/>
            <a:ext cx="2194560" cy="77724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Rare-Earth</a:t>
            </a:r>
            <a:endParaRPr lang="en-US" sz="1400" dirty="0"/>
          </a:p>
          <a:p>
            <a:pPr marL="0" indent="0">
              <a:buNone/>
            </a:pPr>
            <a:r>
              <a:rPr lang="en-US" sz="1400" b="1" dirty="0">
                <a:solidFill>
                  <a:srgbClr val="1A1A1A"/>
                </a:solidFill>
                <a:latin typeface="Calibri" pitchFamily="34" charset="0"/>
                <a:ea typeface="Calibri" pitchFamily="34" charset="-122"/>
                <a:cs typeface="Calibri" pitchFamily="34" charset="-120"/>
              </a:rPr>
              <a:t>Independence</a:t>
            </a:r>
            <a:endParaRPr lang="en-US" sz="1400" dirty="0"/>
          </a:p>
        </p:txBody>
      </p:sp>
      <p:sp>
        <p:nvSpPr>
          <p:cNvPr id="22" name="Text 19"/>
          <p:cNvSpPr/>
          <p:nvPr/>
        </p:nvSpPr>
        <p:spPr>
          <a:xfrm>
            <a:off x="2926080" y="4974336"/>
            <a:ext cx="2743200" cy="77724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Magnet-Free Option</a:t>
            </a:r>
            <a:endParaRPr lang="en-US" sz="1300" dirty="0"/>
          </a:p>
          <a:p>
            <a:pPr marL="0" indent="0">
              <a:buNone/>
            </a:pPr>
            <a:r>
              <a:rPr lang="en-US" sz="1100" i="1" dirty="0">
                <a:solidFill>
                  <a:srgbClr val="595959"/>
                </a:solidFill>
                <a:latin typeface="Calibri" pitchFamily="34" charset="0"/>
                <a:ea typeface="Calibri" pitchFamily="34" charset="-122"/>
                <a:cs typeface="Calibri" pitchFamily="34" charset="-120"/>
              </a:rPr>
              <a:t>Traction concept in validation phase</a:t>
            </a:r>
            <a:endParaRPr lang="en-US" sz="1300" dirty="0"/>
          </a:p>
        </p:txBody>
      </p:sp>
      <p:sp>
        <p:nvSpPr>
          <p:cNvPr id="23" name="Text 20"/>
          <p:cNvSpPr/>
          <p:nvPr/>
        </p:nvSpPr>
        <p:spPr>
          <a:xfrm>
            <a:off x="5806440" y="4974336"/>
            <a:ext cx="5943600" cy="777240"/>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Magnet-free design removes Nd-Fe-B dependency entirely, hedging premium OEMs against magnet cost volatility while preserving PM-class power density and high zero-speed torque.</a:t>
            </a:r>
            <a:endParaRPr lang="en-US" sz="1150" dirty="0"/>
          </a:p>
        </p:txBody>
      </p:sp>
      <p:sp>
        <p:nvSpPr>
          <p:cNvPr id="24" name="Shape 21"/>
          <p:cNvSpPr/>
          <p:nvPr/>
        </p:nvSpPr>
        <p:spPr>
          <a:xfrm>
            <a:off x="365760" y="5897880"/>
            <a:ext cx="11475720" cy="457200"/>
          </a:xfrm>
          <a:prstGeom prst="rect">
            <a:avLst/>
          </a:prstGeom>
          <a:solidFill>
            <a:srgbClr val="1F5878"/>
          </a:solidFill>
          <a:ln/>
        </p:spPr>
        <p:txBody>
          <a:bodyPr/>
          <a:lstStyle/>
          <a:p>
            <a:endParaRPr lang="en-GB"/>
          </a:p>
        </p:txBody>
      </p:sp>
      <p:sp>
        <p:nvSpPr>
          <p:cNvPr id="25" name="Text 22"/>
          <p:cNvSpPr/>
          <p:nvPr/>
        </p:nvSpPr>
        <p:spPr>
          <a:xfrm>
            <a:off x="365760" y="5897880"/>
            <a:ext cx="114757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Proven electromagnetic competencies: loss reduction, FSCW optimization, flux-barrier topology, and integrated cooling.</a:t>
            </a:r>
            <a:endParaRPr lang="en-US" sz="1300" dirty="0"/>
          </a:p>
        </p:txBody>
      </p:sp>
      <p:sp>
        <p:nvSpPr>
          <p:cNvPr id="28" name="Text 25"/>
          <p:cNvSpPr/>
          <p:nvPr/>
        </p:nvSpPr>
        <p:spPr>
          <a:xfrm>
            <a:off x="5852160" y="6510528"/>
            <a:ext cx="457200" cy="274320"/>
          </a:xfrm>
          <a:prstGeom prst="rect">
            <a:avLst/>
          </a:prstGeom>
          <a:noFill/>
          <a:ln/>
        </p:spPr>
        <p:txBody>
          <a:bodyPr wrap="square" rtlCol="0" anchor="ctr"/>
          <a:lstStyle/>
          <a:p>
            <a:pPr marL="0" indent="0" algn="ctr">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sp>
        <p:nvSpPr>
          <p:cNvPr id="29" name="Text 26"/>
          <p:cNvSpPr/>
          <p:nvPr/>
        </p:nvSpPr>
        <p:spPr>
          <a:xfrm>
            <a:off x="10058400" y="6263640"/>
            <a:ext cx="2011680" cy="320040"/>
          </a:xfrm>
          <a:prstGeom prst="rect">
            <a:avLst/>
          </a:prstGeom>
          <a:noFill/>
          <a:ln/>
        </p:spPr>
        <p:txBody>
          <a:bodyPr wrap="square" rtlCol="0" anchor="ctr"/>
          <a:lstStyle/>
          <a:p>
            <a:pPr marL="0" indent="0" algn="r">
              <a:buNone/>
            </a:pPr>
            <a:r>
              <a:rPr lang="en-US" sz="1300" i="1" dirty="0">
                <a:solidFill>
                  <a:srgbClr val="1F5878"/>
                </a:solidFill>
                <a:latin typeface="Calibri" pitchFamily="34" charset="0"/>
                <a:ea typeface="Calibri" pitchFamily="34" charset="-122"/>
                <a:cs typeface="Calibri" pitchFamily="34" charset="-120"/>
              </a:rPr>
              <a:t>Drive Innovations</a:t>
            </a:r>
            <a:endParaRPr lang="en-US" sz="1300" dirty="0"/>
          </a:p>
        </p:txBody>
      </p:sp>
      <p:sp>
        <p:nvSpPr>
          <p:cNvPr id="30" name="Shape 18">
            <a:extLst>
              <a:ext uri="{FF2B5EF4-FFF2-40B4-BE49-F238E27FC236}">
                <a16:creationId xmlns:a16="http://schemas.microsoft.com/office/drawing/2014/main" id="{87E0DA89-D45E-2F8D-1D69-A9B6D87413BD}"/>
              </a:ext>
            </a:extLst>
          </p:cNvPr>
          <p:cNvSpPr/>
          <p:nvPr/>
        </p:nvSpPr>
        <p:spPr>
          <a:xfrm>
            <a:off x="0" y="6355080"/>
            <a:ext cx="2743200" cy="502920"/>
          </a:xfrm>
          <a:prstGeom prst="rtTriangle">
            <a:avLst/>
          </a:prstGeom>
          <a:solidFill>
            <a:srgbClr val="1F5878"/>
          </a:solidFill>
          <a:ln w="12700">
            <a:solidFill>
              <a:srgbClr val="1F5878"/>
            </a:solidFill>
            <a:prstDash val="solid"/>
          </a:ln>
        </p:spPr>
        <p:txBody>
          <a:bodyPr/>
          <a:lstStyle/>
          <a:p>
            <a:endParaRPr lang="en-GB"/>
          </a:p>
        </p:txBody>
      </p:sp>
      <p:sp>
        <p:nvSpPr>
          <p:cNvPr id="31" name="Shape 19">
            <a:extLst>
              <a:ext uri="{FF2B5EF4-FFF2-40B4-BE49-F238E27FC236}">
                <a16:creationId xmlns:a16="http://schemas.microsoft.com/office/drawing/2014/main" id="{3B710139-384A-22E9-BCFB-8AFBA67ED8DE}"/>
              </a:ext>
            </a:extLst>
          </p:cNvPr>
          <p:cNvSpPr/>
          <p:nvPr/>
        </p:nvSpPr>
        <p:spPr>
          <a:xfrm flipH="1">
            <a:off x="7772400" y="6581775"/>
            <a:ext cx="4419600" cy="276225"/>
          </a:xfrm>
          <a:prstGeom prst="rtTriangle">
            <a:avLst/>
          </a:prstGeom>
          <a:solidFill>
            <a:srgbClr val="B7CFDC"/>
          </a:solidFill>
          <a:ln w="12700">
            <a:solidFill>
              <a:srgbClr val="B7CFDC"/>
            </a:solidFill>
            <a:prstDash val="solid"/>
          </a:ln>
        </p:spPr>
        <p:txBody>
          <a:bodyPr/>
          <a:lstStyle/>
          <a:p>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feaam_header.png"/>
          <p:cNvPicPr>
            <a:picLocks noChangeAspect="1"/>
          </p:cNvPicPr>
          <p:nvPr/>
        </p:nvPicPr>
        <p:blipFill>
          <a:blip r:embed="rId3"/>
          <a:stretch>
            <a:fillRect/>
          </a:stretch>
        </p:blipFill>
        <p:spPr>
          <a:xfrm>
            <a:off x="0" y="0"/>
            <a:ext cx="12161520" cy="822960"/>
          </a:xfrm>
          <a:prstGeom prst="rect">
            <a:avLst/>
          </a:prstGeom>
        </p:spPr>
      </p:pic>
      <p:sp>
        <p:nvSpPr>
          <p:cNvPr id="3" name="Text 0"/>
          <p:cNvSpPr/>
          <p:nvPr/>
        </p:nvSpPr>
        <p:spPr>
          <a:xfrm>
            <a:off x="365760" y="914400"/>
            <a:ext cx="11430000" cy="640080"/>
          </a:xfrm>
          <a:prstGeom prst="rect">
            <a:avLst/>
          </a:prstGeom>
          <a:noFill/>
          <a:ln/>
        </p:spPr>
        <p:txBody>
          <a:bodyPr wrap="square" lIns="0" tIns="0" rIns="0" bIns="0" rtlCol="0" anchor="ctr"/>
          <a:lstStyle/>
          <a:p>
            <a:pPr marL="0" indent="0" algn="ctr">
              <a:buNone/>
            </a:pPr>
            <a:r>
              <a:rPr lang="en-US" sz="2600" dirty="0">
                <a:solidFill>
                  <a:srgbClr val="1F5878"/>
                </a:solidFill>
                <a:latin typeface="Calibri" pitchFamily="34" charset="0"/>
                <a:ea typeface="Calibri" pitchFamily="34" charset="-122"/>
                <a:cs typeface="Calibri" pitchFamily="34" charset="-120"/>
              </a:rPr>
              <a:t>FEAAM Technology Mapped to Simulation Hardware Architecture</a:t>
            </a:r>
            <a:endParaRPr lang="en-US" sz="2600" dirty="0"/>
          </a:p>
        </p:txBody>
      </p:sp>
      <p:sp>
        <p:nvSpPr>
          <p:cNvPr id="4" name="Shape 1"/>
          <p:cNvSpPr/>
          <p:nvPr/>
        </p:nvSpPr>
        <p:spPr>
          <a:xfrm>
            <a:off x="457200" y="1783080"/>
            <a:ext cx="11338560" cy="868680"/>
          </a:xfrm>
          <a:prstGeom prst="rect">
            <a:avLst/>
          </a:prstGeom>
          <a:solidFill>
            <a:srgbClr val="F5F8FA"/>
          </a:solidFill>
          <a:ln/>
        </p:spPr>
        <p:txBody>
          <a:bodyPr/>
          <a:lstStyle/>
          <a:p>
            <a:endParaRPr lang="en-GB"/>
          </a:p>
        </p:txBody>
      </p:sp>
      <p:sp>
        <p:nvSpPr>
          <p:cNvPr id="5" name="Shape 2"/>
          <p:cNvSpPr/>
          <p:nvPr/>
        </p:nvSpPr>
        <p:spPr>
          <a:xfrm>
            <a:off x="457200" y="1783080"/>
            <a:ext cx="73152" cy="868680"/>
          </a:xfrm>
          <a:prstGeom prst="rect">
            <a:avLst/>
          </a:prstGeom>
          <a:solidFill>
            <a:srgbClr val="C00000"/>
          </a:solidFill>
          <a:ln/>
        </p:spPr>
        <p:txBody>
          <a:bodyPr/>
          <a:lstStyle/>
          <a:p>
            <a:endParaRPr lang="en-GB"/>
          </a:p>
        </p:txBody>
      </p:sp>
      <p:sp>
        <p:nvSpPr>
          <p:cNvPr id="6" name="Text 3"/>
          <p:cNvSpPr/>
          <p:nvPr/>
        </p:nvSpPr>
        <p:spPr>
          <a:xfrm>
            <a:off x="685800" y="1856232"/>
            <a:ext cx="2194560" cy="722376"/>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Racing</a:t>
            </a:r>
            <a:endParaRPr lang="en-US" sz="1400" dirty="0"/>
          </a:p>
          <a:p>
            <a:pPr marL="0" indent="0">
              <a:buNone/>
            </a:pPr>
            <a:r>
              <a:rPr lang="en-US" sz="1400" b="1" dirty="0">
                <a:solidFill>
                  <a:srgbClr val="1A1A1A"/>
                </a:solidFill>
                <a:latin typeface="Calibri" pitchFamily="34" charset="0"/>
                <a:ea typeface="Calibri" pitchFamily="34" charset="-122"/>
                <a:cs typeface="Calibri" pitchFamily="34" charset="-120"/>
              </a:rPr>
              <a:t>Wheelbase</a:t>
            </a:r>
            <a:endParaRPr lang="en-US" sz="1400" dirty="0"/>
          </a:p>
        </p:txBody>
      </p:sp>
      <p:sp>
        <p:nvSpPr>
          <p:cNvPr id="7" name="Text 4"/>
          <p:cNvSpPr/>
          <p:nvPr/>
        </p:nvSpPr>
        <p:spPr>
          <a:xfrm>
            <a:off x="2926080" y="1856232"/>
            <a:ext cx="2743200" cy="722376"/>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Flux-Barrier Stator</a:t>
            </a:r>
            <a:endParaRPr lang="en-US" sz="1300" dirty="0"/>
          </a:p>
          <a:p>
            <a:pPr marL="0" indent="0">
              <a:buNone/>
            </a:pPr>
            <a:r>
              <a:rPr lang="en-US" sz="1100" i="1" dirty="0">
                <a:solidFill>
                  <a:srgbClr val="595959"/>
                </a:solidFill>
                <a:latin typeface="Calibri" pitchFamily="34" charset="0"/>
                <a:ea typeface="Calibri" pitchFamily="34" charset="-122"/>
                <a:cs typeface="Calibri" pitchFamily="34" charset="-120"/>
              </a:rPr>
              <a:t>Shipped in Fanatec Direct Drive Pro</a:t>
            </a:r>
            <a:endParaRPr lang="en-US" sz="1300" dirty="0"/>
          </a:p>
        </p:txBody>
      </p:sp>
      <p:sp>
        <p:nvSpPr>
          <p:cNvPr id="8" name="Text 5"/>
          <p:cNvSpPr/>
          <p:nvPr/>
        </p:nvSpPr>
        <p:spPr>
          <a:xfrm>
            <a:off x="5806440" y="1856232"/>
            <a:ext cx="5943600" cy="722376"/>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Validated flux-barrier topologies have shown significant reductions in parasitic harmonics and measurable torque-density improvements in selected machine configurations. FEAAM technology is already inside a shipping direct-drive racing wheelbase product.</a:t>
            </a:r>
            <a:endParaRPr lang="en-US" sz="1150" dirty="0"/>
          </a:p>
        </p:txBody>
      </p:sp>
      <p:sp>
        <p:nvSpPr>
          <p:cNvPr id="9" name="Shape 6"/>
          <p:cNvSpPr/>
          <p:nvPr/>
        </p:nvSpPr>
        <p:spPr>
          <a:xfrm>
            <a:off x="457200" y="2724912"/>
            <a:ext cx="11338560" cy="868680"/>
          </a:xfrm>
          <a:prstGeom prst="rect">
            <a:avLst/>
          </a:prstGeom>
          <a:solidFill>
            <a:srgbClr val="F5F8FA"/>
          </a:solidFill>
          <a:ln/>
        </p:spPr>
        <p:txBody>
          <a:bodyPr/>
          <a:lstStyle/>
          <a:p>
            <a:endParaRPr lang="en-GB"/>
          </a:p>
        </p:txBody>
      </p:sp>
      <p:sp>
        <p:nvSpPr>
          <p:cNvPr id="10" name="Shape 7"/>
          <p:cNvSpPr/>
          <p:nvPr/>
        </p:nvSpPr>
        <p:spPr>
          <a:xfrm>
            <a:off x="457200" y="2724912"/>
            <a:ext cx="73152" cy="868680"/>
          </a:xfrm>
          <a:prstGeom prst="rect">
            <a:avLst/>
          </a:prstGeom>
          <a:solidFill>
            <a:srgbClr val="C00000"/>
          </a:solidFill>
          <a:ln/>
        </p:spPr>
        <p:txBody>
          <a:bodyPr/>
          <a:lstStyle/>
          <a:p>
            <a:endParaRPr lang="en-GB"/>
          </a:p>
        </p:txBody>
      </p:sp>
      <p:sp>
        <p:nvSpPr>
          <p:cNvPr id="11" name="Text 8"/>
          <p:cNvSpPr/>
          <p:nvPr/>
        </p:nvSpPr>
        <p:spPr>
          <a:xfrm>
            <a:off x="685800" y="2798064"/>
            <a:ext cx="2194560" cy="722376"/>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Flight Yoke,</a:t>
            </a:r>
            <a:endParaRPr lang="en-US" sz="1400" dirty="0"/>
          </a:p>
          <a:p>
            <a:pPr marL="0" indent="0">
              <a:buNone/>
            </a:pPr>
            <a:r>
              <a:rPr lang="en-US" sz="1400" b="1" dirty="0">
                <a:solidFill>
                  <a:srgbClr val="1A1A1A"/>
                </a:solidFill>
                <a:latin typeface="Calibri" pitchFamily="34" charset="0"/>
                <a:ea typeface="Calibri" pitchFamily="34" charset="-122"/>
                <a:cs typeface="Calibri" pitchFamily="34" charset="-120"/>
              </a:rPr>
              <a:t>Stick, &amp; Pedal</a:t>
            </a:r>
            <a:endParaRPr lang="en-US" sz="1400" dirty="0"/>
          </a:p>
        </p:txBody>
      </p:sp>
      <p:sp>
        <p:nvSpPr>
          <p:cNvPr id="12" name="Text 9"/>
          <p:cNvSpPr/>
          <p:nvPr/>
        </p:nvSpPr>
        <p:spPr>
          <a:xfrm>
            <a:off x="2926080" y="2798064"/>
            <a:ext cx="2743200" cy="722376"/>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Compact Direct-Drive</a:t>
            </a:r>
            <a:endParaRPr lang="en-US" sz="1300" dirty="0"/>
          </a:p>
          <a:p>
            <a:pPr marL="0" indent="0">
              <a:buNone/>
            </a:pPr>
            <a:r>
              <a:rPr lang="en-US" sz="1100" i="1" dirty="0">
                <a:solidFill>
                  <a:srgbClr val="595959"/>
                </a:solidFill>
                <a:latin typeface="Calibri" pitchFamily="34" charset="0"/>
                <a:ea typeface="Calibri" pitchFamily="34" charset="-122"/>
                <a:cs typeface="Calibri" pitchFamily="34" charset="-120"/>
              </a:rPr>
              <a:t>FSCW + Flux-Barrier</a:t>
            </a:r>
            <a:endParaRPr lang="en-US" sz="1300" dirty="0"/>
          </a:p>
        </p:txBody>
      </p:sp>
      <p:sp>
        <p:nvSpPr>
          <p:cNvPr id="13" name="Text 10"/>
          <p:cNvSpPr/>
          <p:nvPr/>
        </p:nvSpPr>
        <p:spPr>
          <a:xfrm>
            <a:off x="5806440" y="2798064"/>
            <a:ext cx="5943600" cy="722376"/>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Compact, low-ripple direct-drive replaces belt-reduction and spring-centering designs in active force-feedback yokes, sticks, and haptic pedals, including software-defined load-cell platforms.</a:t>
            </a:r>
            <a:endParaRPr lang="en-US" sz="1150" dirty="0"/>
          </a:p>
        </p:txBody>
      </p:sp>
      <p:sp>
        <p:nvSpPr>
          <p:cNvPr id="14" name="Shape 11"/>
          <p:cNvSpPr/>
          <p:nvPr/>
        </p:nvSpPr>
        <p:spPr>
          <a:xfrm>
            <a:off x="457200" y="3666744"/>
            <a:ext cx="11338560" cy="868680"/>
          </a:xfrm>
          <a:prstGeom prst="rect">
            <a:avLst/>
          </a:prstGeom>
          <a:solidFill>
            <a:srgbClr val="F5F8FA"/>
          </a:solidFill>
          <a:ln/>
        </p:spPr>
        <p:txBody>
          <a:bodyPr/>
          <a:lstStyle/>
          <a:p>
            <a:endParaRPr lang="en-GB"/>
          </a:p>
        </p:txBody>
      </p:sp>
      <p:sp>
        <p:nvSpPr>
          <p:cNvPr id="15" name="Shape 12"/>
          <p:cNvSpPr/>
          <p:nvPr/>
        </p:nvSpPr>
        <p:spPr>
          <a:xfrm>
            <a:off x="457200" y="3666744"/>
            <a:ext cx="73152" cy="868680"/>
          </a:xfrm>
          <a:prstGeom prst="rect">
            <a:avLst/>
          </a:prstGeom>
          <a:solidFill>
            <a:srgbClr val="C00000"/>
          </a:solidFill>
          <a:ln/>
        </p:spPr>
        <p:txBody>
          <a:bodyPr/>
          <a:lstStyle/>
          <a:p>
            <a:endParaRPr lang="en-GB"/>
          </a:p>
        </p:txBody>
      </p:sp>
      <p:sp>
        <p:nvSpPr>
          <p:cNvPr id="16" name="Text 13"/>
          <p:cNvSpPr/>
          <p:nvPr/>
        </p:nvSpPr>
        <p:spPr>
          <a:xfrm>
            <a:off x="685800" y="3739896"/>
            <a:ext cx="2194560" cy="722376"/>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Premium &amp;</a:t>
            </a:r>
            <a:endParaRPr lang="en-US" sz="1400" dirty="0"/>
          </a:p>
          <a:p>
            <a:pPr marL="0" indent="0">
              <a:buNone/>
            </a:pPr>
            <a:r>
              <a:rPr lang="en-US" sz="1400" b="1" dirty="0">
                <a:solidFill>
                  <a:srgbClr val="1A1A1A"/>
                </a:solidFill>
                <a:latin typeface="Calibri" pitchFamily="34" charset="0"/>
                <a:ea typeface="Calibri" pitchFamily="34" charset="-122"/>
                <a:cs typeface="Calibri" pitchFamily="34" charset="-120"/>
              </a:rPr>
              <a:t>Rare-Earth-Free</a:t>
            </a:r>
            <a:endParaRPr lang="en-US" sz="1400" dirty="0"/>
          </a:p>
        </p:txBody>
      </p:sp>
      <p:sp>
        <p:nvSpPr>
          <p:cNvPr id="17" name="Text 14"/>
          <p:cNvSpPr/>
          <p:nvPr/>
        </p:nvSpPr>
        <p:spPr>
          <a:xfrm>
            <a:off x="2926080" y="3739896"/>
            <a:ext cx="2743200" cy="722376"/>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Magnet-Free Motor</a:t>
            </a:r>
            <a:endParaRPr lang="en-US" sz="1300" dirty="0"/>
          </a:p>
          <a:p>
            <a:pPr marL="0" indent="0">
              <a:buNone/>
            </a:pPr>
            <a:r>
              <a:rPr lang="en-US" sz="1100" i="1" dirty="0">
                <a:solidFill>
                  <a:srgbClr val="595959"/>
                </a:solidFill>
                <a:latin typeface="Calibri" pitchFamily="34" charset="0"/>
                <a:ea typeface="Calibri" pitchFamily="34" charset="-122"/>
                <a:cs typeface="Calibri" pitchFamily="34" charset="-120"/>
              </a:rPr>
              <a:t>Traction concept in validation phase</a:t>
            </a:r>
            <a:endParaRPr lang="en-US" sz="1300" dirty="0"/>
          </a:p>
        </p:txBody>
      </p:sp>
      <p:sp>
        <p:nvSpPr>
          <p:cNvPr id="18" name="Text 15"/>
          <p:cNvSpPr/>
          <p:nvPr/>
        </p:nvSpPr>
        <p:spPr>
          <a:xfrm>
            <a:off x="5806440" y="3739896"/>
            <a:ext cx="5943600" cy="722376"/>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0% rare-earth content. Full decoupling from the Nd-Fe-B supply chain, with PM-class power density and high zero-speed torque. Strategic option for premium European OEMs hedging magnet cost volatility on long product cycles.</a:t>
            </a:r>
            <a:endParaRPr lang="en-US" sz="1150" dirty="0"/>
          </a:p>
        </p:txBody>
      </p:sp>
      <p:sp>
        <p:nvSpPr>
          <p:cNvPr id="19" name="Shape 16"/>
          <p:cNvSpPr/>
          <p:nvPr/>
        </p:nvSpPr>
        <p:spPr>
          <a:xfrm>
            <a:off x="457200" y="4608576"/>
            <a:ext cx="11338560" cy="868680"/>
          </a:xfrm>
          <a:prstGeom prst="rect">
            <a:avLst/>
          </a:prstGeom>
          <a:solidFill>
            <a:srgbClr val="F5F8FA"/>
          </a:solidFill>
          <a:ln/>
        </p:spPr>
        <p:txBody>
          <a:bodyPr/>
          <a:lstStyle/>
          <a:p>
            <a:endParaRPr lang="en-GB"/>
          </a:p>
        </p:txBody>
      </p:sp>
      <p:sp>
        <p:nvSpPr>
          <p:cNvPr id="20" name="Shape 17"/>
          <p:cNvSpPr/>
          <p:nvPr/>
        </p:nvSpPr>
        <p:spPr>
          <a:xfrm>
            <a:off x="457200" y="4608576"/>
            <a:ext cx="73152" cy="868680"/>
          </a:xfrm>
          <a:prstGeom prst="rect">
            <a:avLst/>
          </a:prstGeom>
          <a:solidFill>
            <a:srgbClr val="C00000"/>
          </a:solidFill>
          <a:ln/>
        </p:spPr>
        <p:txBody>
          <a:bodyPr/>
          <a:lstStyle/>
          <a:p>
            <a:endParaRPr lang="en-GB"/>
          </a:p>
        </p:txBody>
      </p:sp>
      <p:sp>
        <p:nvSpPr>
          <p:cNvPr id="21" name="Text 18"/>
          <p:cNvSpPr/>
          <p:nvPr/>
        </p:nvSpPr>
        <p:spPr>
          <a:xfrm>
            <a:off x="685800" y="4681728"/>
            <a:ext cx="2194560" cy="722376"/>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Motion Platform</a:t>
            </a:r>
            <a:endParaRPr lang="en-US" sz="1400" dirty="0"/>
          </a:p>
          <a:p>
            <a:pPr marL="0" indent="0">
              <a:buNone/>
            </a:pPr>
            <a:r>
              <a:rPr lang="en-US" sz="1400" b="1" dirty="0">
                <a:solidFill>
                  <a:srgbClr val="1A1A1A"/>
                </a:solidFill>
                <a:latin typeface="Calibri" pitchFamily="34" charset="0"/>
                <a:ea typeface="Calibri" pitchFamily="34" charset="-122"/>
                <a:cs typeface="Calibri" pitchFamily="34" charset="-120"/>
              </a:rPr>
              <a:t>Linear Actuators</a:t>
            </a:r>
            <a:endParaRPr lang="en-US" sz="1400" dirty="0"/>
          </a:p>
        </p:txBody>
      </p:sp>
      <p:sp>
        <p:nvSpPr>
          <p:cNvPr id="22" name="Text 19"/>
          <p:cNvSpPr/>
          <p:nvPr/>
        </p:nvSpPr>
        <p:spPr>
          <a:xfrm>
            <a:off x="2926080" y="4681728"/>
            <a:ext cx="2743200" cy="722376"/>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Axial Flux Motor</a:t>
            </a:r>
            <a:endParaRPr lang="en-US" sz="1300" dirty="0"/>
          </a:p>
          <a:p>
            <a:pPr marL="0" indent="0">
              <a:buNone/>
            </a:pPr>
            <a:r>
              <a:rPr lang="en-US" sz="1100" i="1" dirty="0">
                <a:solidFill>
                  <a:srgbClr val="595959"/>
                </a:solidFill>
                <a:latin typeface="Calibri" pitchFamily="34" charset="0"/>
                <a:ea typeface="Calibri" pitchFamily="34" charset="-122"/>
                <a:cs typeface="Calibri" pitchFamily="34" charset="-120"/>
              </a:rPr>
              <a:t>Compact high-density topology</a:t>
            </a:r>
            <a:endParaRPr lang="en-US" sz="1300" dirty="0"/>
          </a:p>
        </p:txBody>
      </p:sp>
      <p:sp>
        <p:nvSpPr>
          <p:cNvPr id="23" name="Text 20"/>
          <p:cNvSpPr/>
          <p:nvPr/>
        </p:nvSpPr>
        <p:spPr>
          <a:xfrm>
            <a:off x="5806440" y="4681728"/>
            <a:ext cx="5943600" cy="722376"/>
          </a:xfrm>
          <a:prstGeom prst="rect">
            <a:avLst/>
          </a:prstGeom>
          <a:noFill/>
          <a:ln/>
        </p:spPr>
        <p:txBody>
          <a:bodyPr wrap="square" lIns="0" tIns="0" rIns="0" bIns="0" rtlCol="0" anchor="ctr"/>
          <a:lstStyle/>
          <a:p>
            <a:pPr marL="0" indent="0">
              <a:buNone/>
            </a:pPr>
            <a:r>
              <a:rPr lang="en-US" sz="1150" dirty="0">
                <a:solidFill>
                  <a:srgbClr val="1A1A1A"/>
                </a:solidFill>
                <a:latin typeface="Calibri" pitchFamily="34" charset="0"/>
                <a:ea typeface="Calibri" pitchFamily="34" charset="-122"/>
                <a:cs typeface="Calibri" pitchFamily="34" charset="-120"/>
              </a:rPr>
              <a:t>Disc-form axial flux topology delivers high force density in a compact footprint, suitable for motion-platform linear actuators and high-bandwidth haptic pedals where unit depth and quiet operation are critical to product positioning.</a:t>
            </a:r>
            <a:endParaRPr lang="en-US" sz="1150" dirty="0"/>
          </a:p>
        </p:txBody>
      </p:sp>
      <p:sp>
        <p:nvSpPr>
          <p:cNvPr id="24" name="Shape 21"/>
          <p:cNvSpPr/>
          <p:nvPr/>
        </p:nvSpPr>
        <p:spPr>
          <a:xfrm>
            <a:off x="365760" y="5715000"/>
            <a:ext cx="11475720" cy="411480"/>
          </a:xfrm>
          <a:prstGeom prst="rect">
            <a:avLst/>
          </a:prstGeom>
          <a:solidFill>
            <a:srgbClr val="1F5878"/>
          </a:solidFill>
          <a:ln/>
        </p:spPr>
        <p:txBody>
          <a:bodyPr/>
          <a:lstStyle/>
          <a:p>
            <a:endParaRPr lang="en-GB"/>
          </a:p>
        </p:txBody>
      </p:sp>
      <p:sp>
        <p:nvSpPr>
          <p:cNvPr id="25" name="Text 22"/>
          <p:cNvSpPr/>
          <p:nvPr/>
        </p:nvSpPr>
        <p:spPr>
          <a:xfrm>
            <a:off x="365760" y="5715000"/>
            <a:ext cx="11475720" cy="4114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Proven inside shipping direct-drive hardware. One IP portfolio addresses every actuator in the simulation rig.</a:t>
            </a:r>
            <a:endParaRPr lang="en-US" sz="1250" dirty="0"/>
          </a:p>
        </p:txBody>
      </p:sp>
      <p:sp>
        <p:nvSpPr>
          <p:cNvPr id="28" name="Text 25"/>
          <p:cNvSpPr/>
          <p:nvPr/>
        </p:nvSpPr>
        <p:spPr>
          <a:xfrm>
            <a:off x="5852160" y="6510528"/>
            <a:ext cx="457200" cy="274320"/>
          </a:xfrm>
          <a:prstGeom prst="rect">
            <a:avLst/>
          </a:prstGeom>
          <a:noFill/>
          <a:ln/>
        </p:spPr>
        <p:txBody>
          <a:bodyPr wrap="square" rtlCol="0" anchor="ctr"/>
          <a:lstStyle/>
          <a:p>
            <a:pPr marL="0" indent="0" algn="ctr">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
        <p:nvSpPr>
          <p:cNvPr id="29" name="Text 26"/>
          <p:cNvSpPr/>
          <p:nvPr/>
        </p:nvSpPr>
        <p:spPr>
          <a:xfrm>
            <a:off x="2468880" y="6236208"/>
            <a:ext cx="7315200" cy="274320"/>
          </a:xfrm>
          <a:prstGeom prst="rect">
            <a:avLst/>
          </a:prstGeom>
          <a:noFill/>
          <a:ln/>
        </p:spPr>
        <p:txBody>
          <a:bodyPr wrap="square" lIns="0" tIns="0" rIns="0" bIns="0" rtlCol="0" anchor="ctr"/>
          <a:lstStyle/>
          <a:p>
            <a:pPr marL="0" indent="0" algn="ctr">
              <a:buNone/>
            </a:pPr>
            <a:r>
              <a:rPr lang="en-US" sz="1200" dirty="0">
                <a:solidFill>
                  <a:srgbClr val="595959"/>
                </a:solidFill>
                <a:latin typeface="Calibri" pitchFamily="34" charset="0"/>
                <a:ea typeface="Calibri" pitchFamily="34" charset="-122"/>
                <a:cs typeface="Calibri" pitchFamily="34" charset="-120"/>
              </a:rPr>
              <a:t>Contact: info@feaam.de   |   https://feaam.de</a:t>
            </a:r>
            <a:endParaRPr lang="en-US" sz="1200" dirty="0"/>
          </a:p>
        </p:txBody>
      </p:sp>
      <p:sp>
        <p:nvSpPr>
          <p:cNvPr id="30" name="Text 27"/>
          <p:cNvSpPr/>
          <p:nvPr/>
        </p:nvSpPr>
        <p:spPr>
          <a:xfrm>
            <a:off x="10058400" y="6263640"/>
            <a:ext cx="2011680" cy="320040"/>
          </a:xfrm>
          <a:prstGeom prst="rect">
            <a:avLst/>
          </a:prstGeom>
          <a:noFill/>
          <a:ln/>
        </p:spPr>
        <p:txBody>
          <a:bodyPr wrap="square" rtlCol="0" anchor="ctr"/>
          <a:lstStyle/>
          <a:p>
            <a:pPr marL="0" indent="0" algn="r">
              <a:buNone/>
            </a:pPr>
            <a:r>
              <a:rPr lang="en-US" sz="1300" i="1" dirty="0">
                <a:solidFill>
                  <a:srgbClr val="1F5878"/>
                </a:solidFill>
                <a:latin typeface="Calibri" pitchFamily="34" charset="0"/>
                <a:ea typeface="Calibri" pitchFamily="34" charset="-122"/>
                <a:cs typeface="Calibri" pitchFamily="34" charset="-120"/>
              </a:rPr>
              <a:t>Drive Innovations</a:t>
            </a:r>
            <a:endParaRPr lang="en-US" sz="1300" dirty="0"/>
          </a:p>
        </p:txBody>
      </p:sp>
      <p:sp>
        <p:nvSpPr>
          <p:cNvPr id="31" name="Shape 18">
            <a:extLst>
              <a:ext uri="{FF2B5EF4-FFF2-40B4-BE49-F238E27FC236}">
                <a16:creationId xmlns:a16="http://schemas.microsoft.com/office/drawing/2014/main" id="{803EB883-D76B-79C4-5303-4E003C90850B}"/>
              </a:ext>
            </a:extLst>
          </p:cNvPr>
          <p:cNvSpPr/>
          <p:nvPr/>
        </p:nvSpPr>
        <p:spPr>
          <a:xfrm>
            <a:off x="0" y="6355080"/>
            <a:ext cx="2743200" cy="502920"/>
          </a:xfrm>
          <a:prstGeom prst="rtTriangle">
            <a:avLst/>
          </a:prstGeom>
          <a:solidFill>
            <a:srgbClr val="1F5878"/>
          </a:solidFill>
          <a:ln w="12700">
            <a:solidFill>
              <a:srgbClr val="1F5878"/>
            </a:solidFill>
            <a:prstDash val="solid"/>
          </a:ln>
        </p:spPr>
        <p:txBody>
          <a:bodyPr/>
          <a:lstStyle/>
          <a:p>
            <a:endParaRPr lang="en-GB"/>
          </a:p>
        </p:txBody>
      </p:sp>
      <p:sp>
        <p:nvSpPr>
          <p:cNvPr id="32" name="Shape 19">
            <a:extLst>
              <a:ext uri="{FF2B5EF4-FFF2-40B4-BE49-F238E27FC236}">
                <a16:creationId xmlns:a16="http://schemas.microsoft.com/office/drawing/2014/main" id="{4376F6DE-495F-B301-F260-C02715F67261}"/>
              </a:ext>
            </a:extLst>
          </p:cNvPr>
          <p:cNvSpPr/>
          <p:nvPr/>
        </p:nvSpPr>
        <p:spPr>
          <a:xfrm flipH="1">
            <a:off x="7772400" y="6581775"/>
            <a:ext cx="4419600" cy="276225"/>
          </a:xfrm>
          <a:prstGeom prst="rtTriangle">
            <a:avLst/>
          </a:prstGeom>
          <a:solidFill>
            <a:srgbClr val="B7CFDC"/>
          </a:solidFill>
          <a:ln w="12700">
            <a:solidFill>
              <a:srgbClr val="B7CFDC"/>
            </a:solidFill>
            <a:prstDash val="solid"/>
          </a:ln>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950</Words>
  <Application>Microsoft Office PowerPoint</Application>
  <PresentationFormat>Widescreen</PresentationFormat>
  <Paragraphs>114</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Future-Proofing Force-Feedback Actuators</dc:title>
  <dc:subject>PptxGenJS Presentation</dc:subject>
  <dc:creator>FEAAM GmbH</dc:creator>
  <cp:lastModifiedBy>Ishita Bhatt</cp:lastModifiedBy>
  <cp:revision>2</cp:revision>
  <dcterms:created xsi:type="dcterms:W3CDTF">2026-05-22T10:50:44Z</dcterms:created>
  <dcterms:modified xsi:type="dcterms:W3CDTF">2026-05-22T10:54:22Z</dcterms:modified>
</cp:coreProperties>
</file>