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Value</c:v>
                </c:pt>
              </c:strCache>
            </c:strRef>
          </c:tx>
          <c:spPr>
            <a:solidFill>
              <a:srgbClr val="1F5878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  <c:pt idx="9">
                  <c:v>2033</c:v>
                </c:pt>
                <c:pt idx="10">
                  <c:v>2034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174.5</c:v>
                </c:pt>
                <c:pt idx="1">
                  <c:v>195.5</c:v>
                </c:pt>
                <c:pt idx="2">
                  <c:v>219</c:v>
                </c:pt>
                <c:pt idx="3">
                  <c:v>245.4</c:v>
                </c:pt>
                <c:pt idx="4">
                  <c:v>275</c:v>
                </c:pt>
                <c:pt idx="5">
                  <c:v>308.10000000000002</c:v>
                </c:pt>
                <c:pt idx="6">
                  <c:v>345.2</c:v>
                </c:pt>
                <c:pt idx="7">
                  <c:v>386.7</c:v>
                </c:pt>
                <c:pt idx="8">
                  <c:v>433.3</c:v>
                </c:pt>
                <c:pt idx="9">
                  <c:v>485.5</c:v>
                </c:pt>
                <c:pt idx="10">
                  <c:v>543.9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3B-4E1B-B47B-5ABEB1D995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2899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Future-Proofing Wind Energy Drives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85800" y="3520440"/>
            <a:ext cx="1828800" cy="36576"/>
          </a:xfrm>
          <a:prstGeom prst="rect">
            <a:avLst/>
          </a:prstGeom>
          <a:solidFill>
            <a:srgbClr val="E89B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IP for rare-earth de-risking, generator efficiency,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offshore-grade drivetrain reliability.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FEAAM GmbH, Research Center for Electrical Drives and Actuators Munich</a:t>
            </a:r>
            <a:endParaRPr lang="en-US" sz="1300" dirty="0"/>
          </a:p>
        </p:txBody>
      </p:sp>
      <p:sp>
        <p:nvSpPr>
          <p:cNvPr id="9" name="Text 25">
            <a:extLst>
              <a:ext uri="{FF2B5EF4-FFF2-40B4-BE49-F238E27FC236}">
                <a16:creationId xmlns:a16="http://schemas.microsoft.com/office/drawing/2014/main" id="{E003A92B-645C-F824-854B-F86629447659}"/>
              </a:ext>
            </a:extLst>
          </p:cNvPr>
          <p:cNvSpPr/>
          <p:nvPr/>
        </p:nvSpPr>
        <p:spPr>
          <a:xfrm>
            <a:off x="640080" y="5303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info@feaam.de   |   https://feaam.de</a:t>
            </a:r>
            <a:endParaRPr lang="en-US" sz="12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2F927C4F-A267-E43B-C932-A09E3EB83AF1}"/>
              </a:ext>
            </a:extLst>
          </p:cNvPr>
          <p:cNvSpPr/>
          <p:nvPr/>
        </p:nvSpPr>
        <p:spPr>
          <a:xfrm>
            <a:off x="0" y="5852160"/>
            <a:ext cx="6400800" cy="100584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553C929E-D029-AC52-1868-D527645ED2B9}"/>
              </a:ext>
            </a:extLst>
          </p:cNvPr>
          <p:cNvSpPr/>
          <p:nvPr/>
        </p:nvSpPr>
        <p:spPr>
          <a:xfrm flipH="1">
            <a:off x="6858000" y="6492240"/>
            <a:ext cx="5303520" cy="36576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Energy Market: Scale, Lifetime, and Generator Density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sustained growth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48640" y="2148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Global wind energy market projected from USD 174.5B (2024) to USD 543.9B (2034), </a:t>
            </a: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 CAGR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Multi-motor architecture per turbine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modern multi-MW turbine integrates: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generator (1, multi-MW class)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motors (3, one per blade)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motors (4 to 16, size-dependent)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/ cooling and lubrication (several)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OEM landscape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Vestas, Siemens Gamesa, GE Vernova, Goldwind, Envision, Mingyang, Nordex, Shanghai Electric. Onshore segment held 64.2% revenue share in 2024.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55080" y="17373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Wind Energy Market, Value (USD Billion)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355080" y="2103120"/>
          <a:ext cx="54406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6355080" y="58978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GM Insights, Wind Energy Market (2024-2034). Values in USD Billion. 11.1% CAGR.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0C3BBDCC-5C23-88D4-CD1C-040F7C9E092D}"/>
              </a:ext>
            </a:extLst>
          </p:cNvPr>
          <p:cNvSpPr/>
          <p:nvPr/>
        </p:nvSpPr>
        <p:spPr>
          <a:xfrm>
            <a:off x="0" y="5852160"/>
            <a:ext cx="6400800" cy="100584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AA0AD9A7-E1A5-8D76-4EB2-172C0C5117FE}"/>
              </a:ext>
            </a:extLst>
          </p:cNvPr>
          <p:cNvSpPr/>
          <p:nvPr/>
        </p:nvSpPr>
        <p:spPr>
          <a:xfrm flipH="1">
            <a:off x="6858000" y="6492240"/>
            <a:ext cx="5303520" cy="36576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Converging on the Wind Turbine Drive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657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Rare-Earth Supply Risk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657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3657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Direct-drive PMSGs use roughly 600 kg of Nd-Fe-B per MW, the highest magnet intensity of any drive system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global rare-earth mining and &gt;90% of processing concentrated in China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export-control and tariff exposure on Nd-Fe-B magnets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exposure on multi-MW generator BOMs becomes a board-level risk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519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LCOE &amp; Efficiency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2519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2519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feeds directly into LCOE across a 20 to 25 year operating life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factor is 30 to 50%, so partial-load efficiency is at least as important as rated efficiency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Grid-code compliance and reactive-power capability push generator design margins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generator efficiency gain compounds across the fleet for two decades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Reliability &amp; Lifetime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1381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81381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to 25 year design life, with offshore O&amp;M measured in days of vessel time per intervention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Generator, pitch, and yaw failures all drive turbine downtime and lost generation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Brushless, slip-ring-free topologies reduce wear and unplanned maintenance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 degradation and demagnetization risk increase under sustained thermal load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5074920"/>
            <a:ext cx="11475720" cy="50292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114300" y="5067300"/>
            <a:ext cx="11475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wind-OEM squeeze: simultaneous pressure on magnet supply, LCOE, and 20-year reliability, at multi-MW scale.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E560E6D6-D7DF-D6EE-598B-185DE335190A}"/>
              </a:ext>
            </a:extLst>
          </p:cNvPr>
          <p:cNvSpPr/>
          <p:nvPr/>
        </p:nvSpPr>
        <p:spPr>
          <a:xfrm>
            <a:off x="0" y="5852160"/>
            <a:ext cx="6400800" cy="100584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484C14F7-E437-F4A7-71D4-A5D05827A0F4}"/>
              </a:ext>
            </a:extLst>
          </p:cNvPr>
          <p:cNvSpPr/>
          <p:nvPr/>
        </p:nvSpPr>
        <p:spPr>
          <a:xfrm flipH="1">
            <a:off x="6858000" y="6492240"/>
            <a:ext cx="5303520" cy="36576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Models for Wind Energy OEMs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5486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worldwide across topology, control, and AI estimation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4348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4348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in global Elsevier scientist rankings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210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2006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83210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R&amp;D, spin-off of Bundeswehr University Munich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486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486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Technology License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integrates proven FEAAM IP into existing turbine generator or pitch / yaw platforms.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772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months to design files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348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4348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4348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Joint Development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6177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FEAAM designs a bespoke, validated machine for a specific turbine class, onshore or offshore.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6634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6634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 24 months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3210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83210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83210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3: Sample / Pilot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5039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FEAAM technology on a representative OEM use-case before full-scale commitment.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5496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85496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months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62BC8FF5-F672-81E3-4F29-9DE37F779D56}"/>
              </a:ext>
            </a:extLst>
          </p:cNvPr>
          <p:cNvSpPr/>
          <p:nvPr/>
        </p:nvSpPr>
        <p:spPr>
          <a:xfrm>
            <a:off x="0" y="5852160"/>
            <a:ext cx="6400800" cy="100584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7832D820-34BB-A3C5-3B0D-25EFDAF56E07}"/>
              </a:ext>
            </a:extLst>
          </p:cNvPr>
          <p:cNvSpPr/>
          <p:nvPr/>
        </p:nvSpPr>
        <p:spPr>
          <a:xfrm flipH="1">
            <a:off x="6858000" y="6492240"/>
            <a:ext cx="5303520" cy="36576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440" y="77647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FEAAM for Wind Energy Drives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562862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457200" y="1562862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85800" y="170002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Low-Speed,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High-Torque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26080" y="170002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FSCW + Flux-Barrier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Direct-drive geometry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700022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Multi-MW direct-drive generators operate at 5 to 20 rpm. FEAAM's fractional-slot concentrated winding and flux-barrier topology deliver the torque density required for compact gearless nacelles, with shortened end windings.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907030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7200" y="2907030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5800" y="304419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Partial-Load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26080" y="304419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and Loss Reduction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FEAAM research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304419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turbines spend most operating hours below rated power. Validated reductions in parasitic harmonics improve efficiency across the full capacity-factor curve, not just at the nameplate point.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251198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57200" y="4251198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5800" y="438835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926080" y="438835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Brushless Construction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 design life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06440" y="4388358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option removes Nd-Fe-B demagnetization and supply risk; no brushes or slip-rings reduce wear components. Robust construction for offshore O&amp;M-sensitive duty cycles and grid-code load events.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5591556"/>
            <a:ext cx="11475720" cy="459201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45440" y="5567420"/>
            <a:ext cx="11475720" cy="465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electromagnetic competencies: efficiency and loss reduction, FSCW optimization, flux-barrier topology, and integrated cooling.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B553CB68-C0FA-5EFB-6A46-DBEC0E9114D8}"/>
              </a:ext>
            </a:extLst>
          </p:cNvPr>
          <p:cNvSpPr/>
          <p:nvPr/>
        </p:nvSpPr>
        <p:spPr>
          <a:xfrm>
            <a:off x="0" y="5852160"/>
            <a:ext cx="6400800" cy="100584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6473C21D-ED6F-AD18-F5B8-1A59B533DCDC}"/>
              </a:ext>
            </a:extLst>
          </p:cNvPr>
          <p:cNvSpPr/>
          <p:nvPr/>
        </p:nvSpPr>
        <p:spPr>
          <a:xfrm flipH="1">
            <a:off x="6858000" y="6492240"/>
            <a:ext cx="5303520" cy="36576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8559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FEAAM Technology Mapped to the Wind Turbine Drive Architecture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531620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457200" y="1531620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85800" y="16687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Generator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(direct-drive)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26080" y="16687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Flux-Barrier Stator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series production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66878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flux-barrier topologies have shown significant reductions in parasitic harmonics and measurable torque-density improvements in selected machine configurations, suitable for gearless multi-MW generator designs.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875788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7200" y="2875788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5800" y="301294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Generator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(magnet-free option)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26080" y="301294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Motor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concept in validation phase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3012948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rare-earth content. Full decoupling from the Nd-Fe-B supply chain. Brushless, slip-ring-free, with PM-class power density and high zero-speed torque. Strategic option for OEMs prioritizing supply-chain independence.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219956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57200" y="4219956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5800" y="435711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&amp; Yaw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926080" y="435711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Flux Motor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high-density topology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06440" y="4357116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Disc-form axial flux topology delivers high torque density in a compact axial footprint, well-suited to space-constrained pitch and yaw positions. Robust construction supports the vibration and thermal cycling typical of nacelle and hub duty.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5600700"/>
            <a:ext cx="1147572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65760" y="5600700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IP portfolio addresses every machine in the turbine, from multi-MW generator down to pitch and yaw actuators.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1023ECB9-5EFD-3DBD-D2D0-441D188D3146}"/>
              </a:ext>
            </a:extLst>
          </p:cNvPr>
          <p:cNvSpPr/>
          <p:nvPr/>
        </p:nvSpPr>
        <p:spPr>
          <a:xfrm>
            <a:off x="0" y="5852160"/>
            <a:ext cx="6400800" cy="100584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8FE9B611-5004-77C8-BEA7-3CA8A3F049E9}"/>
              </a:ext>
            </a:extLst>
          </p:cNvPr>
          <p:cNvSpPr/>
          <p:nvPr/>
        </p:nvSpPr>
        <p:spPr>
          <a:xfrm flipH="1">
            <a:off x="6858000" y="6492240"/>
            <a:ext cx="5303520" cy="36576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AE5BC49-4A63-8DEF-EAC0-9F878E39CE6B}"/>
              </a:ext>
            </a:extLst>
          </p:cNvPr>
          <p:cNvSpPr/>
          <p:nvPr/>
        </p:nvSpPr>
        <p:spPr>
          <a:xfrm>
            <a:off x="1737360" y="614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info@feaam.de   |   https://feaam.de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833</Words>
  <Application>Microsoft Office PowerPoint</Application>
  <PresentationFormat>Widescreen</PresentationFormat>
  <Paragraphs>102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Future-Proofing Wind Energy Drives</dc:title>
  <dc:subject>PptxGenJS Presentation</dc:subject>
  <dc:creator>FEAAM GmbH</dc:creator>
  <cp:lastModifiedBy>Ishita Bhatt</cp:lastModifiedBy>
  <cp:revision>2</cp:revision>
  <dcterms:created xsi:type="dcterms:W3CDTF">2026-05-21T09:36:07Z</dcterms:created>
  <dcterms:modified xsi:type="dcterms:W3CDTF">2026-05-22T07:40:45Z</dcterms:modified>
</cp:coreProperties>
</file>